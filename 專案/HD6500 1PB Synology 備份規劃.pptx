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</p:sldMasterIdLst>
  <p:notesMasterIdLst>
    <p:notesMasterId r:id="rId7"/>
  </p:notesMasterIdLst>
  <p:handoutMasterIdLst>
    <p:handoutMasterId r:id="rId8"/>
  </p:handoutMasterIdLst>
  <p:sldIdLst>
    <p:sldId id="750" r:id="rId4"/>
    <p:sldId id="711" r:id="rId5"/>
    <p:sldId id="749" r:id="rId6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0798EF0-D4A8-4BE0-A1B5-ACB448F2D5A0}">
          <p14:sldIdLst>
            <p14:sldId id="750"/>
            <p14:sldId id="711"/>
            <p14:sldId id="7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ck deschere" initials="pd" lastIdx="4" clrIdx="0">
    <p:extLst/>
  </p:cmAuthor>
  <p:cmAuthor id="2" name="Ang Pai" initials="AP" lastIdx="3" clrIdx="1"/>
  <p:cmAuthor id="3" name="Syno" initials="S" lastIdx="1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9933"/>
    <a:srgbClr val="005DE9"/>
    <a:srgbClr val="4D4D4D"/>
    <a:srgbClr val="99CC00"/>
    <a:srgbClr val="996633"/>
    <a:srgbClr val="ED7D31"/>
    <a:srgbClr val="CC9900"/>
    <a:srgbClr val="990000"/>
    <a:srgbClr val="7E8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 autoAdjust="0"/>
    <p:restoredTop sz="93165" autoAdjust="0"/>
  </p:normalViewPr>
  <p:slideViewPr>
    <p:cSldViewPr snapToGrid="0">
      <p:cViewPr varScale="1">
        <p:scale>
          <a:sx n="69" d="100"/>
          <a:sy n="69" d="100"/>
        </p:scale>
        <p:origin x="296" y="4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3814C-E584-4DDD-AA83-8360934662E0}" type="datetimeFigureOut">
              <a:rPr lang="zh-TW" altLang="en-US" smtClean="0"/>
              <a:pPr/>
              <a:t>2025/5/6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7B496-A694-4F1A-ACD4-D50E037581C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996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84970-71CD-44CD-A00A-DA7BDDCBA3ED}" type="datetimeFigureOut">
              <a:rPr lang="zh-TW" altLang="en-US" smtClean="0"/>
              <a:pPr/>
              <a:t>2025/5/6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3CB16-B1FB-4CA4-AA5B-15D2843B1ED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GB" dirty="0" smtClean="0"/>
              <a:t>EXT4</a:t>
            </a:r>
            <a:r>
              <a:rPr lang="en-GB" baseline="0" dirty="0" smtClean="0"/>
              <a:t> /BTRFS</a:t>
            </a:r>
            <a:r>
              <a:rPr lang="zh-TW" altLang="en-US" baseline="0" dirty="0" smtClean="0"/>
              <a:t> 可以於同台並存，</a:t>
            </a:r>
            <a:r>
              <a:rPr lang="en-US" altLang="zh-TW" baseline="0" dirty="0" smtClean="0"/>
              <a:t>EXT4</a:t>
            </a:r>
            <a:r>
              <a:rPr lang="zh-TW" altLang="en-US" baseline="0" dirty="0" smtClean="0"/>
              <a:t>無法無痛升級</a:t>
            </a:r>
            <a:r>
              <a:rPr lang="en-US" altLang="zh-TW" baseline="0" dirty="0" smtClean="0"/>
              <a:t>BTRFS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Single Volume on RAID GROUP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Global </a:t>
            </a:r>
            <a:r>
              <a:rPr lang="en-US" baseline="0" dirty="0" err="1" smtClean="0"/>
              <a:t>Hotspare</a:t>
            </a:r>
            <a:r>
              <a:rPr lang="en-GB" baseline="0" dirty="0" smtClean="0"/>
              <a:t> </a:t>
            </a:r>
            <a:endParaRPr lang="en-GB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8E0142-0A05-42FE-8167-F89B6D73B52A}" type="slidenum">
              <a:rPr lang="zh-TW" altLang="en-US" smtClean="0">
                <a:solidFill>
                  <a:prstClr val="black"/>
                </a:solidFill>
              </a:rPr>
              <a:pPr/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540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84553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922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3146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4061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7902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2221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09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7876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7072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3943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46565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569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</a:t>
            </a:r>
            <a:r>
              <a:rPr lang="en-US" altLang="zh-TW" dirty="0" err="1"/>
              <a:t>sd</a:t>
            </a:r>
            <a:r>
              <a:rPr lang="zh-TW" altLang="en-US" dirty="0"/>
              <a:t>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71089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96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637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587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638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353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116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665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226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560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6693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0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7966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7113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6D8D3-92BA-4A80-8029-4C41787DEDB6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6/05/2025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13511-80FE-471C-BCB3-50AD0997AE0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731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08464" y="806307"/>
            <a:ext cx="3775072" cy="443198"/>
          </a:xfr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1D1E2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ＭＳ Ｐゴシック" charset="0"/>
              </a:rPr>
              <a:t>HD6500</a:t>
            </a:r>
            <a:r>
              <a:rPr lang="zh-TW" altLang="en-US" sz="3200" b="1" dirty="0">
                <a:solidFill>
                  <a:srgbClr val="1D1E2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ＭＳ Ｐゴシック" charset="0"/>
              </a:rPr>
              <a:t> 硬體配置圖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62" y="1884219"/>
            <a:ext cx="11844475" cy="39253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文字方塊 6"/>
          <p:cNvSpPr txBox="1"/>
          <p:nvPr/>
        </p:nvSpPr>
        <p:spPr>
          <a:xfrm>
            <a:off x="2638560" y="1854506"/>
            <a:ext cx="313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480GB SSD x2 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(DSM</a:t>
            </a:r>
            <a:r>
              <a:rPr lang="zh-TW" altLang="en-US" dirty="0" smtClean="0">
                <a:solidFill>
                  <a:srgbClr val="FF0000"/>
                </a:solidFill>
              </a:rPr>
              <a:t> 系統碟</a:t>
            </a:r>
            <a:r>
              <a:rPr lang="en-US" altLang="zh-TW" dirty="0" smtClean="0">
                <a:solidFill>
                  <a:srgbClr val="FF0000"/>
                </a:solidFill>
              </a:rPr>
              <a:t>) RAID1</a:t>
            </a:r>
            <a:r>
              <a:rPr lang="zh-TW" altLang="en-US" dirty="0" smtClean="0">
                <a:solidFill>
                  <a:srgbClr val="FF0000"/>
                </a:solidFill>
              </a:rPr>
              <a:t> 保護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4417764" y="2500837"/>
            <a:ext cx="782197" cy="37456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38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8" y="691767"/>
            <a:ext cx="11098435" cy="4234526"/>
          </a:xfrm>
          <a:prstGeom prst="rect">
            <a:avLst/>
          </a:prstGeom>
        </p:spPr>
      </p:pic>
      <p:sp>
        <p:nvSpPr>
          <p:cNvPr id="24" name="標題 1">
            <a:extLst>
              <a:ext uri="{FF2B5EF4-FFF2-40B4-BE49-F238E27FC236}">
                <a16:creationId xmlns="" xmlns:a16="http://schemas.microsoft.com/office/drawing/2014/main" id="{EDA3934A-763C-CA41-8133-74FD83820C3C}"/>
              </a:ext>
            </a:extLst>
          </p:cNvPr>
          <p:cNvSpPr txBox="1">
            <a:spLocks/>
          </p:cNvSpPr>
          <p:nvPr/>
        </p:nvSpPr>
        <p:spPr>
          <a:xfrm>
            <a:off x="2860084" y="256311"/>
            <a:ext cx="5740354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zh-TW"/>
            </a:defPPr>
            <a:lvl1pPr>
              <a:defRPr sz="4400" b="1">
                <a:solidFill>
                  <a:srgbClr val="1D1E2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ＭＳ Ｐゴシック" charset="0"/>
              </a:defRPr>
            </a:lvl1pPr>
          </a:lstStyle>
          <a:p>
            <a:pPr algn="ctr"/>
            <a:r>
              <a:rPr lang="zh-TW" altLang="en-US" sz="3200" dirty="0" smtClean="0"/>
              <a:t>主機儲存空間配置圖 </a:t>
            </a:r>
            <a:r>
              <a:rPr lang="en-US" altLang="zh-TW" sz="3200" dirty="0" smtClean="0"/>
              <a:t>– HD6500</a:t>
            </a:r>
            <a:endParaRPr lang="zh-TW" altLang="en-US" sz="3200" dirty="0"/>
          </a:p>
        </p:txBody>
      </p:sp>
      <p:sp>
        <p:nvSpPr>
          <p:cNvPr id="45" name="圓角矩形 44"/>
          <p:cNvSpPr/>
          <p:nvPr/>
        </p:nvSpPr>
        <p:spPr>
          <a:xfrm>
            <a:off x="1418084" y="1192282"/>
            <a:ext cx="9194498" cy="102009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RAID 6 Group1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圓角矩形 45"/>
          <p:cNvSpPr/>
          <p:nvPr/>
        </p:nvSpPr>
        <p:spPr>
          <a:xfrm>
            <a:off x="1418084" y="2380815"/>
            <a:ext cx="9194498" cy="102009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RAID 6 Group2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圓角矩形 46"/>
          <p:cNvSpPr/>
          <p:nvPr/>
        </p:nvSpPr>
        <p:spPr>
          <a:xfrm>
            <a:off x="1418083" y="3551908"/>
            <a:ext cx="9194499" cy="102009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RAID 6 Group3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3283707" y="1380848"/>
            <a:ext cx="2609093" cy="604684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 </a:t>
            </a:r>
            <a:r>
              <a:rPr lang="en-US" altLang="zh-TW" dirty="0" smtClean="0"/>
              <a:t>TB NL SAS HDD x20</a:t>
            </a:r>
            <a:endParaRPr lang="zh-TW" altLang="en-US" dirty="0"/>
          </a:p>
        </p:txBody>
      </p:sp>
      <p:sp>
        <p:nvSpPr>
          <p:cNvPr id="51" name="圓角矩形 50"/>
          <p:cNvSpPr/>
          <p:nvPr/>
        </p:nvSpPr>
        <p:spPr>
          <a:xfrm>
            <a:off x="3283707" y="2624470"/>
            <a:ext cx="2609093" cy="604684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r>
              <a:rPr lang="en-US" altLang="zh-TW" dirty="0" smtClean="0"/>
              <a:t> </a:t>
            </a:r>
            <a:r>
              <a:rPr lang="en-US" altLang="zh-TW" dirty="0"/>
              <a:t>TB NL SAS HDD x20</a:t>
            </a:r>
            <a:endParaRPr lang="zh-TW" altLang="en-US" dirty="0"/>
          </a:p>
        </p:txBody>
      </p:sp>
      <p:sp>
        <p:nvSpPr>
          <p:cNvPr id="52" name="圓角矩形 51"/>
          <p:cNvSpPr/>
          <p:nvPr/>
        </p:nvSpPr>
        <p:spPr>
          <a:xfrm>
            <a:off x="3283706" y="3759611"/>
            <a:ext cx="2609093" cy="604684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r>
              <a:rPr lang="en-US" altLang="zh-TW" dirty="0" smtClean="0"/>
              <a:t> </a:t>
            </a:r>
            <a:r>
              <a:rPr lang="en-US" altLang="zh-TW" dirty="0"/>
              <a:t>TB NL SAS HDD x20</a:t>
            </a:r>
            <a:endParaRPr lang="zh-TW" altLang="en-US" dirty="0"/>
          </a:p>
        </p:txBody>
      </p:sp>
      <p:sp>
        <p:nvSpPr>
          <p:cNvPr id="7" name="向右箭號 6"/>
          <p:cNvSpPr/>
          <p:nvPr/>
        </p:nvSpPr>
        <p:spPr>
          <a:xfrm>
            <a:off x="6049817" y="1553880"/>
            <a:ext cx="988291" cy="302625"/>
          </a:xfrm>
          <a:prstGeom prst="rightArrow">
            <a:avLst/>
          </a:prstGeom>
          <a:solidFill>
            <a:srgbClr val="005DE9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圓角矩形 52"/>
          <p:cNvSpPr/>
          <p:nvPr/>
        </p:nvSpPr>
        <p:spPr>
          <a:xfrm>
            <a:off x="7335757" y="1408705"/>
            <a:ext cx="1489587" cy="604684"/>
          </a:xfrm>
          <a:prstGeom prst="roundRect">
            <a:avLst/>
          </a:prstGeom>
          <a:solidFill>
            <a:srgbClr val="005D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Volume1</a:t>
            </a:r>
          </a:p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327TB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向右箭號 53"/>
          <p:cNvSpPr/>
          <p:nvPr/>
        </p:nvSpPr>
        <p:spPr>
          <a:xfrm>
            <a:off x="6049817" y="2769645"/>
            <a:ext cx="988291" cy="302625"/>
          </a:xfrm>
          <a:prstGeom prst="rightArrow">
            <a:avLst/>
          </a:prstGeom>
          <a:solidFill>
            <a:srgbClr val="005DE9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圓角矩形 54"/>
          <p:cNvSpPr/>
          <p:nvPr/>
        </p:nvSpPr>
        <p:spPr>
          <a:xfrm>
            <a:off x="7335757" y="2624470"/>
            <a:ext cx="1489587" cy="604684"/>
          </a:xfrm>
          <a:prstGeom prst="roundRect">
            <a:avLst/>
          </a:prstGeom>
          <a:solidFill>
            <a:srgbClr val="005D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Volume2</a:t>
            </a:r>
          </a:p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TB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向右箭號 55"/>
          <p:cNvSpPr/>
          <p:nvPr/>
        </p:nvSpPr>
        <p:spPr>
          <a:xfrm>
            <a:off x="6049817" y="3904549"/>
            <a:ext cx="988291" cy="302625"/>
          </a:xfrm>
          <a:prstGeom prst="rightArrow">
            <a:avLst/>
          </a:prstGeom>
          <a:solidFill>
            <a:srgbClr val="005DE9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圓角矩形 56"/>
          <p:cNvSpPr/>
          <p:nvPr/>
        </p:nvSpPr>
        <p:spPr>
          <a:xfrm>
            <a:off x="7335757" y="3759374"/>
            <a:ext cx="1489587" cy="604684"/>
          </a:xfrm>
          <a:prstGeom prst="roundRect">
            <a:avLst/>
          </a:prstGeom>
          <a:solidFill>
            <a:srgbClr val="005D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Volume3</a:t>
            </a:r>
          </a:p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327</a:t>
            </a:r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TB</a:t>
            </a:r>
            <a:r>
              <a:rPr lang="zh-TW" altLang="en-US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圓角矩形 57"/>
          <p:cNvSpPr/>
          <p:nvPr/>
        </p:nvSpPr>
        <p:spPr>
          <a:xfrm>
            <a:off x="9118375" y="1431633"/>
            <a:ext cx="1272534" cy="293242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Volume A</a:t>
            </a:r>
          </a:p>
          <a:p>
            <a:pPr algn="ctr"/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981TB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789708" y="4988204"/>
            <a:ext cx="10520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smtClean="0"/>
              <a:t>By RAID Group </a:t>
            </a:r>
            <a:r>
              <a:rPr lang="zh-TW" altLang="en-US" dirty="0" smtClean="0"/>
              <a:t>建立獨立 </a:t>
            </a:r>
            <a:r>
              <a:rPr lang="en-US" altLang="zh-TW" dirty="0" smtClean="0"/>
              <a:t>Volume</a:t>
            </a:r>
            <a:r>
              <a:rPr lang="zh-TW" altLang="en-US" dirty="0" smtClean="0"/>
              <a:t> 優勢</a:t>
            </a:r>
            <a:r>
              <a:rPr lang="en-US" altLang="zh-TW" dirty="0" smtClean="0"/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 smtClean="0"/>
              <a:t>後續有硬碟故障 </a:t>
            </a:r>
            <a:r>
              <a:rPr lang="en-US" altLang="zh-TW" dirty="0" err="1" smtClean="0"/>
              <a:t>rebulid</a:t>
            </a:r>
            <a:r>
              <a:rPr lang="zh-TW" altLang="en-US" dirty="0" smtClean="0"/>
              <a:t> 時不會影響到其他 </a:t>
            </a:r>
            <a:r>
              <a:rPr lang="en-US" altLang="zh-TW" dirty="0" smtClean="0"/>
              <a:t>Volume</a:t>
            </a:r>
            <a:r>
              <a:rPr lang="zh-TW" altLang="en-US" dirty="0" smtClean="0"/>
              <a:t>，</a:t>
            </a:r>
            <a:r>
              <a:rPr lang="en-US" altLang="zh-TW" dirty="0" smtClean="0"/>
              <a:t>ex:</a:t>
            </a:r>
            <a:r>
              <a:rPr lang="zh-TW" altLang="en-US" dirty="0" smtClean="0"/>
              <a:t> 修復 </a:t>
            </a:r>
            <a:r>
              <a:rPr lang="en-US" altLang="zh-TW" dirty="0" smtClean="0"/>
              <a:t>RAID Group1</a:t>
            </a:r>
            <a:r>
              <a:rPr lang="zh-TW" altLang="en-US" dirty="0"/>
              <a:t>只</a:t>
            </a:r>
            <a:r>
              <a:rPr lang="zh-TW" altLang="en-US" dirty="0" smtClean="0"/>
              <a:t>會影響到 </a:t>
            </a:r>
            <a:r>
              <a:rPr lang="en-US" altLang="zh-TW" dirty="0" smtClean="0"/>
              <a:t>volume1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smtClean="0"/>
              <a:t>IO</a:t>
            </a:r>
            <a:r>
              <a:rPr lang="zh-TW" altLang="en-US" dirty="0" smtClean="0"/>
              <a:t> 時可以確實寫入該 </a:t>
            </a:r>
            <a:r>
              <a:rPr lang="en-US" altLang="zh-TW" dirty="0" smtClean="0"/>
              <a:t>RAID Group</a:t>
            </a:r>
            <a:r>
              <a:rPr lang="zh-TW" altLang="en-US" dirty="0" smtClean="0"/>
              <a:t> 上硬碟，如果合併成 </a:t>
            </a:r>
            <a:r>
              <a:rPr lang="en-US" altLang="zh-TW" dirty="0"/>
              <a:t>V</a:t>
            </a:r>
            <a:r>
              <a:rPr lang="en-US" altLang="zh-TW" dirty="0" smtClean="0"/>
              <a:t>olume A</a:t>
            </a:r>
            <a:r>
              <a:rPr lang="zh-TW" altLang="en-US" dirty="0" smtClean="0"/>
              <a:t>，資料量在 </a:t>
            </a:r>
            <a:r>
              <a:rPr lang="en-US" altLang="zh-TW" dirty="0" smtClean="0"/>
              <a:t>327</a:t>
            </a:r>
            <a:r>
              <a:rPr lang="en-US" altLang="zh-TW" dirty="0" smtClean="0"/>
              <a:t>TB</a:t>
            </a:r>
            <a:r>
              <a:rPr lang="zh-TW" altLang="en-US" dirty="0" smtClean="0"/>
              <a:t> </a:t>
            </a:r>
            <a:r>
              <a:rPr lang="zh-TW" altLang="en-US" dirty="0" smtClean="0"/>
              <a:t>以下，</a:t>
            </a:r>
            <a:r>
              <a:rPr lang="en-US" altLang="zh-TW" dirty="0" smtClean="0"/>
              <a:t>RAID Group2/3</a:t>
            </a:r>
            <a:r>
              <a:rPr lang="zh-TW" altLang="en-US" dirty="0" smtClean="0"/>
              <a:t> 的 </a:t>
            </a:r>
            <a:r>
              <a:rPr lang="en-US" altLang="zh-TW" dirty="0" smtClean="0"/>
              <a:t>HDD</a:t>
            </a:r>
            <a:r>
              <a:rPr lang="zh-TW" altLang="en-US" dirty="0" smtClean="0"/>
              <a:t> 都不會有 </a:t>
            </a:r>
            <a:r>
              <a:rPr lang="en-US" altLang="zh-TW" dirty="0" smtClean="0"/>
              <a:t>IO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371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51" grpId="0" animBg="1"/>
      <p:bldP spid="52" grpId="0" animBg="1"/>
      <p:bldP spid="53" grpId="0" animBg="1"/>
      <p:bldP spid="55" grpId="0" animBg="1"/>
      <p:bldP spid="5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1716623" y="1619043"/>
            <a:ext cx="8768359" cy="85540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514378" y="1889789"/>
            <a:ext cx="1519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Share Folder</a:t>
            </a:r>
            <a:endParaRPr lang="zh-TW" altLang="en-US" sz="2000" dirty="0"/>
          </a:p>
        </p:txBody>
      </p:sp>
      <p:sp>
        <p:nvSpPr>
          <p:cNvPr id="7" name="圓角矩形 6"/>
          <p:cNvSpPr/>
          <p:nvPr/>
        </p:nvSpPr>
        <p:spPr>
          <a:xfrm>
            <a:off x="4180946" y="1787954"/>
            <a:ext cx="1489587" cy="60468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Share Folder</a:t>
            </a:r>
            <a:endParaRPr lang="zh-TW" altLang="en-US" dirty="0"/>
          </a:p>
        </p:txBody>
      </p:sp>
      <p:sp>
        <p:nvSpPr>
          <p:cNvPr id="15" name="圓角矩形 14"/>
          <p:cNvSpPr/>
          <p:nvPr/>
        </p:nvSpPr>
        <p:spPr>
          <a:xfrm>
            <a:off x="5936004" y="1787954"/>
            <a:ext cx="1489587" cy="60468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File Level LUN</a:t>
            </a:r>
            <a:endParaRPr lang="zh-TW" altLang="en-US" dirty="0"/>
          </a:p>
        </p:txBody>
      </p:sp>
      <p:sp>
        <p:nvSpPr>
          <p:cNvPr id="17" name="圓角矩形 16"/>
          <p:cNvSpPr/>
          <p:nvPr/>
        </p:nvSpPr>
        <p:spPr>
          <a:xfrm>
            <a:off x="1716623" y="2760452"/>
            <a:ext cx="8768359" cy="8554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圓角矩形 18"/>
          <p:cNvSpPr/>
          <p:nvPr/>
        </p:nvSpPr>
        <p:spPr>
          <a:xfrm>
            <a:off x="1714913" y="3883568"/>
            <a:ext cx="8768359" cy="127447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 19"/>
          <p:cNvSpPr/>
          <p:nvPr/>
        </p:nvSpPr>
        <p:spPr>
          <a:xfrm>
            <a:off x="1714913" y="5445127"/>
            <a:ext cx="8768359" cy="85540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2514377" y="3031198"/>
            <a:ext cx="1401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/>
              <a:t>Volume</a:t>
            </a:r>
            <a:endParaRPr lang="zh-TW" altLang="en-US" sz="2000" dirty="0"/>
          </a:p>
        </p:txBody>
      </p:sp>
      <p:sp>
        <p:nvSpPr>
          <p:cNvPr id="22" name="圓角矩形 21"/>
          <p:cNvSpPr/>
          <p:nvPr/>
        </p:nvSpPr>
        <p:spPr>
          <a:xfrm>
            <a:off x="4180946" y="2909836"/>
            <a:ext cx="3244645" cy="60468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BTRFS</a:t>
            </a:r>
            <a:endParaRPr lang="zh-TW" altLang="en-US" dirty="0"/>
          </a:p>
        </p:txBody>
      </p:sp>
      <p:sp>
        <p:nvSpPr>
          <p:cNvPr id="25" name="圓角矩形 24"/>
          <p:cNvSpPr/>
          <p:nvPr/>
        </p:nvSpPr>
        <p:spPr>
          <a:xfrm>
            <a:off x="7705810" y="2928911"/>
            <a:ext cx="1740310" cy="60468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Block Level LUN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542163" y="4285458"/>
            <a:ext cx="1401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/>
              <a:t>RAID Group</a:t>
            </a:r>
            <a:endParaRPr lang="zh-TW" altLang="en-US" sz="2000" dirty="0"/>
          </a:p>
        </p:txBody>
      </p:sp>
      <p:sp>
        <p:nvSpPr>
          <p:cNvPr id="35" name="圓角矩形 34"/>
          <p:cNvSpPr/>
          <p:nvPr/>
        </p:nvSpPr>
        <p:spPr>
          <a:xfrm>
            <a:off x="4252977" y="4028631"/>
            <a:ext cx="5193143" cy="103976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6199762" y="3999140"/>
            <a:ext cx="140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Disk Pool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573371" y="5680794"/>
            <a:ext cx="1401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/>
              <a:t>Disk</a:t>
            </a:r>
            <a:endParaRPr lang="zh-TW" altLang="en-US" sz="2000" dirty="0"/>
          </a:p>
        </p:txBody>
      </p:sp>
      <p:sp>
        <p:nvSpPr>
          <p:cNvPr id="40" name="圓角矩形 39"/>
          <p:cNvSpPr/>
          <p:nvPr/>
        </p:nvSpPr>
        <p:spPr>
          <a:xfrm>
            <a:off x="4252977" y="5578507"/>
            <a:ext cx="1519082" cy="604684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SSD</a:t>
            </a:r>
            <a:endParaRPr lang="zh-TW" altLang="en-US" dirty="0"/>
          </a:p>
        </p:txBody>
      </p:sp>
      <p:sp>
        <p:nvSpPr>
          <p:cNvPr id="43" name="圓角矩形 42"/>
          <p:cNvSpPr/>
          <p:nvPr/>
        </p:nvSpPr>
        <p:spPr>
          <a:xfrm>
            <a:off x="6022361" y="5598197"/>
            <a:ext cx="1578924" cy="604684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SATA HDD</a:t>
            </a:r>
            <a:endParaRPr lang="zh-TW" altLang="en-US" dirty="0"/>
          </a:p>
        </p:txBody>
      </p:sp>
      <p:sp>
        <p:nvSpPr>
          <p:cNvPr id="44" name="圓角矩形 43"/>
          <p:cNvSpPr/>
          <p:nvPr/>
        </p:nvSpPr>
        <p:spPr>
          <a:xfrm>
            <a:off x="7929598" y="5598197"/>
            <a:ext cx="1516522" cy="604684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SAS HDD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4341466" y="4338981"/>
            <a:ext cx="4939000" cy="589929"/>
            <a:chOff x="6281101" y="4108074"/>
            <a:chExt cx="4939000" cy="589929"/>
          </a:xfrm>
        </p:grpSpPr>
        <p:sp>
          <p:nvSpPr>
            <p:cNvPr id="27" name="圓角矩形 26"/>
            <p:cNvSpPr/>
            <p:nvPr/>
          </p:nvSpPr>
          <p:spPr>
            <a:xfrm>
              <a:off x="6281101" y="4108074"/>
              <a:ext cx="899651" cy="56043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RAID Group</a:t>
              </a:r>
              <a:endParaRPr lang="zh-TW" altLang="en-US" sz="1600" dirty="0"/>
            </a:p>
          </p:txBody>
        </p:sp>
        <p:sp>
          <p:nvSpPr>
            <p:cNvPr id="30" name="圓角矩形 29"/>
            <p:cNvSpPr/>
            <p:nvPr/>
          </p:nvSpPr>
          <p:spPr>
            <a:xfrm>
              <a:off x="7291367" y="4108074"/>
              <a:ext cx="899651" cy="56043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RAID Group</a:t>
              </a:r>
              <a:endParaRPr lang="zh-TW" altLang="en-US" sz="1600" dirty="0"/>
            </a:p>
          </p:txBody>
        </p:sp>
        <p:sp>
          <p:nvSpPr>
            <p:cNvPr id="34" name="圓角矩形 33"/>
            <p:cNvSpPr/>
            <p:nvPr/>
          </p:nvSpPr>
          <p:spPr>
            <a:xfrm>
              <a:off x="8301633" y="4122820"/>
              <a:ext cx="899651" cy="56043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RAID Group</a:t>
              </a:r>
              <a:endParaRPr lang="zh-TW" altLang="en-US" sz="1600" dirty="0"/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9311899" y="4126266"/>
              <a:ext cx="899651" cy="56043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RAID Group</a:t>
              </a:r>
              <a:endParaRPr lang="zh-TW" altLang="en-US" sz="1600" dirty="0"/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10320450" y="4137565"/>
              <a:ext cx="899651" cy="56043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 smtClean="0"/>
                <a:t>RAID Group</a:t>
              </a:r>
              <a:endParaRPr lang="zh-TW" altLang="en-US" sz="1600" dirty="0"/>
            </a:p>
          </p:txBody>
        </p:sp>
      </p:grpSp>
      <p:sp>
        <p:nvSpPr>
          <p:cNvPr id="31" name="標題 1">
            <a:extLst>
              <a:ext uri="{FF2B5EF4-FFF2-40B4-BE49-F238E27FC236}">
                <a16:creationId xmlns="" xmlns:a16="http://schemas.microsoft.com/office/drawing/2014/main" id="{EDA3934A-763C-CA41-8133-74FD83820C3C}"/>
              </a:ext>
            </a:extLst>
          </p:cNvPr>
          <p:cNvSpPr txBox="1">
            <a:spLocks/>
          </p:cNvSpPr>
          <p:nvPr/>
        </p:nvSpPr>
        <p:spPr>
          <a:xfrm>
            <a:off x="3322038" y="629779"/>
            <a:ext cx="4816447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defPPr>
              <a:defRPr lang="zh-TW"/>
            </a:defPPr>
            <a:lvl1pPr>
              <a:defRPr sz="4400" b="1">
                <a:solidFill>
                  <a:srgbClr val="1D1E2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ＭＳ Ｐゴシック" charset="0"/>
              </a:defRPr>
            </a:lvl1pPr>
          </a:lstStyle>
          <a:p>
            <a:pPr algn="ctr"/>
            <a:r>
              <a:rPr lang="en-US" altLang="zh-TW" sz="3200" dirty="0" smtClean="0"/>
              <a:t>Synology </a:t>
            </a:r>
            <a:r>
              <a:rPr lang="zh-TW" altLang="en-US" sz="3200" dirty="0" smtClean="0"/>
              <a:t>儲存空間</a:t>
            </a:r>
            <a:r>
              <a:rPr lang="zh-TW" altLang="en-US" sz="3200" dirty="0"/>
              <a:t>架構</a:t>
            </a:r>
            <a:r>
              <a:rPr lang="zh-TW" altLang="en-US" sz="3200" dirty="0" smtClean="0"/>
              <a:t>圖</a:t>
            </a:r>
            <a:endParaRPr lang="en-US" altLang="zh-TW" sz="3200" dirty="0" smtClean="0"/>
          </a:p>
        </p:txBody>
      </p:sp>
    </p:spTree>
    <p:extLst>
      <p:ext uri="{BB962C8B-B14F-4D97-AF65-F5344CB8AC3E}">
        <p14:creationId xmlns:p14="http://schemas.microsoft.com/office/powerpoint/2010/main" val="371149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15" grpId="0" animBg="1"/>
      <p:bldP spid="17" grpId="0" animBg="1"/>
      <p:bldP spid="19" grpId="0" animBg="1"/>
      <p:bldP spid="20" grpId="0" animBg="1"/>
      <p:bldP spid="21" grpId="0"/>
      <p:bldP spid="22" grpId="0" animBg="1"/>
      <p:bldP spid="25" grpId="0" animBg="1"/>
      <p:bldP spid="26" grpId="0"/>
      <p:bldP spid="35" grpId="0" animBg="1"/>
      <p:bldP spid="36" grpId="0"/>
      <p:bldP spid="39" grpId="0"/>
      <p:bldP spid="40" grpId="0" animBg="1"/>
      <p:bldP spid="43" grpId="0" animBg="1"/>
      <p:bldP spid="44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19453</TotalTime>
  <Words>180</Words>
  <Application>Microsoft Office PowerPoint</Application>
  <PresentationFormat>寬螢幕</PresentationFormat>
  <Paragraphs>43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</vt:i4>
      </vt:variant>
    </vt:vector>
  </HeadingPairs>
  <TitlesOfParts>
    <vt:vector size="14" baseType="lpstr">
      <vt:lpstr>ＭＳ Ｐゴシック</vt:lpstr>
      <vt:lpstr>超研澤粗黑</vt:lpstr>
      <vt:lpstr>Microsoft JhengHei</vt:lpstr>
      <vt:lpstr>Microsoft JhengHei</vt:lpstr>
      <vt:lpstr>新細明體</vt:lpstr>
      <vt:lpstr>Arial</vt:lpstr>
      <vt:lpstr>Calibri</vt:lpstr>
      <vt:lpstr>Calibri Light</vt:lpstr>
      <vt:lpstr>Office 佈景主題</vt:lpstr>
      <vt:lpstr>自訂設計</vt:lpstr>
      <vt:lpstr>Office Theme</vt:lpstr>
      <vt:lpstr>HD6500 硬體配置圖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Shannon</dc:creator>
  <cp:lastModifiedBy>Ray Chuang</cp:lastModifiedBy>
  <cp:revision>1650</cp:revision>
  <cp:lastPrinted>2016-09-20T09:49:58Z</cp:lastPrinted>
  <dcterms:created xsi:type="dcterms:W3CDTF">2016-08-29T03:49:53Z</dcterms:created>
  <dcterms:modified xsi:type="dcterms:W3CDTF">2025-05-06T07:09:35Z</dcterms:modified>
</cp:coreProperties>
</file>