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DP7400-A（TB）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VM 主要備份</c:v>
                </c:pt>
              </c:strCache>
            </c:strRef>
          </c:tx>
          <c:spPr>
            <a:solidFill>
              <a:srgbClr val="0E7C86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導入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28.2</c:v>
                </c:pt>
                <c:pt idx="1">
                  <c:v>32.4</c:v>
                </c:pt>
                <c:pt idx="2">
                  <c:v>37.2</c:v>
                </c:pt>
                <c:pt idx="3">
                  <c:v>42.8</c:v>
                </c:pt>
                <c:pt idx="4">
                  <c:v>49.3</c:v>
                </c:pt>
                <c:pt idx="5">
                  <c:v>56.6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SQL 副本 14 天</c:v>
                </c:pt>
              </c:strCache>
            </c:strRef>
          </c:tx>
          <c:spPr>
            <a:solidFill>
              <a:srgbClr val="7FC4C9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導入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11.9</c:v>
                </c:pt>
                <c:pt idx="1">
                  <c:v>13.7</c:v>
                </c:pt>
                <c:pt idx="2">
                  <c:v>15.7</c:v>
                </c:pt>
                <c:pt idx="3">
                  <c:v>18.1</c:v>
                </c:pt>
                <c:pt idx="4">
                  <c:v>20.8</c:v>
                </c:pt>
                <c:pt idx="5">
                  <c:v>23.9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DE3"/>
            </a:solidFill>
          </a:ln>
        </c:spPr>
        <c:txPr>
          <a:bodyPr/>
          <a:lstStyle/>
          <a:p>
            <a:pPr>
              <a:defRPr sz="1200">
                <a:solidFill>
                  <a:srgbClr val="5B6B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2.0"/>
          <c:min val="0.0"/>
        </c:scaling>
        <c:delete val="0"/>
        <c:axPos val="l"/>
        <c:majorGridlines>
          <c:spPr>
            <a:ln>
              <a:solidFill>
                <a:srgbClr val="E3E8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B6B78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b"/>
      <c:overlay val="0"/>
      <c:txPr>
        <a:bodyPr/>
        <a:lstStyle/>
        <a:p>
          <a:pPr>
            <a:defRPr sz="1200">
              <a:latin typeface="Microsoft Jheng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DP7400-B（TB）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SQL 主要備份</c:v>
                </c:pt>
              </c:strCache>
            </c:strRef>
          </c:tx>
          <c:spPr>
            <a:solidFill>
              <a:srgbClr val="D9822B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導入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44.1</c:v>
                </c:pt>
                <c:pt idx="1">
                  <c:v>50.7</c:v>
                </c:pt>
                <c:pt idx="2">
                  <c:v>58.3</c:v>
                </c:pt>
                <c:pt idx="3">
                  <c:v>67.0</c:v>
                </c:pt>
                <c:pt idx="4">
                  <c:v>77.1</c:v>
                </c:pt>
                <c:pt idx="5">
                  <c:v>88.6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關鍵 VM 副本 7 天</c:v>
                </c:pt>
              </c:strCache>
            </c:strRef>
          </c:tx>
          <c:spPr>
            <a:solidFill>
              <a:srgbClr val="F0BC86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導入</c:v>
                </c:pt>
                <c:pt idx="1">
                  <c:v>Y1</c:v>
                </c:pt>
                <c:pt idx="2">
                  <c:v>Y2</c:v>
                </c:pt>
                <c:pt idx="3">
                  <c:v>Y3</c:v>
                </c:pt>
                <c:pt idx="4">
                  <c:v>Y4</c:v>
                </c:pt>
                <c:pt idx="5">
                  <c:v>Y5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4.2</c:v>
                </c:pt>
                <c:pt idx="1">
                  <c:v>4.9</c:v>
                </c:pt>
                <c:pt idx="2">
                  <c:v>5.6</c:v>
                </c:pt>
                <c:pt idx="3">
                  <c:v>6.4</c:v>
                </c:pt>
                <c:pt idx="4">
                  <c:v>7.4</c:v>
                </c:pt>
                <c:pt idx="5">
                  <c:v>8.5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DE3"/>
            </a:solidFill>
          </a:ln>
        </c:spPr>
        <c:txPr>
          <a:bodyPr/>
          <a:lstStyle/>
          <a:p>
            <a:pPr>
              <a:defRPr sz="1200">
                <a:solidFill>
                  <a:srgbClr val="5B6B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2.0"/>
          <c:min val="0.0"/>
        </c:scaling>
        <c:delete val="0"/>
        <c:axPos val="l"/>
        <c:majorGridlines>
          <c:spPr>
            <a:ln>
              <a:solidFill>
                <a:srgbClr val="E3E8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B6B78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b"/>
      <c:overlay val="0"/>
      <c:txPr>
        <a:bodyPr/>
        <a:lstStyle/>
        <a:p>
          <a:pPr>
            <a:defRPr sz="1200">
              <a:latin typeface="Microsoft Jheng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7FD0D6"/>
                </a:solidFill>
                <a:latin typeface="Microsoft JhengHei"/>
                <a:ea typeface="Microsoft JhengHei"/>
                <a:cs typeface="Microsoft JhengHei"/>
              </a:rPr>
              <a:t>Synology ActiveProtect DP7400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69494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雙機分流備份架構</a:t>
            </a:r>
          </a:p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規劃與技術說明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94760"/>
            <a:ext cx="7223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B8C7D3"/>
                </a:solidFill>
                <a:latin typeface="Microsoft JhengHei"/>
                <a:ea typeface="Microsoft JhengHei"/>
                <a:cs typeface="Microsoft JhengHei"/>
              </a:rPr>
              <a:t>VM／SQL 分流設計・故障影響評估・五年容量規劃・授權與交付文件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8FA3B3"/>
                </a:solidFill>
                <a:latin typeface="Microsoft JhengHei"/>
                <a:ea typeface="Microsoft JhengHei"/>
                <a:cs typeface="Microsoft JhengHei"/>
              </a:rPr>
              <a:t>內部請購・五年 TCO 評估・議價參考文件　｜　2026 年 10 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291840" cy="1600200"/>
          </a:xfrm>
          <a:prstGeom prst="roundRect">
            <a:avLst>
              <a:gd name="adj" fmla="val 8000"/>
            </a:avLst>
          </a:prstGeom>
          <a:solidFill>
            <a:srgbClr val="16384D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572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7FD0D6"/>
                </a:solidFill>
                <a:latin typeface="Microsoft JhengHei"/>
                <a:ea typeface="Microsoft JhengHei"/>
                <a:cs typeface="Microsoft JhengHei"/>
              </a:rPr>
              <a:t>DP7400-A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9202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D6E2EA"/>
                </a:solidFill>
                <a:latin typeface="Microsoft JhengHei"/>
                <a:ea typeface="Microsoft JhengHei"/>
                <a:cs typeface="Microsoft JhengHei"/>
              </a:rPr>
              <a:t>VM 備份專用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2496312"/>
            <a:ext cx="2926080" cy="384048"/>
          </a:xfrm>
          <a:prstGeom prst="rect">
            <a:avLst/>
          </a:prstGeom>
          <a:solidFill>
            <a:srgbClr val="2B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25694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90457" y="25694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8435" y="25694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46412" y="25694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24390" y="25694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02367" y="25694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80345" y="25694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58323" y="25694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36300" y="25694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14278" y="25694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3520440"/>
            <a:ext cx="3291840" cy="1600200"/>
          </a:xfrm>
          <a:prstGeom prst="roundRect">
            <a:avLst>
              <a:gd name="adj" fmla="val 8000"/>
            </a:avLst>
          </a:prstGeom>
          <a:solidFill>
            <a:srgbClr val="16384D"/>
          </a:solidFill>
          <a:ln w="2540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6301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DP7400-B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97763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D6E2EA"/>
                </a:solidFill>
                <a:latin typeface="Microsoft JhengHei"/>
                <a:ea typeface="Microsoft JhengHei"/>
                <a:cs typeface="Microsoft JhengHei"/>
              </a:rPr>
              <a:t>SQL Server 備份專用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4553712"/>
            <a:ext cx="2926080" cy="384048"/>
          </a:xfrm>
          <a:prstGeom prst="rect">
            <a:avLst/>
          </a:prstGeom>
          <a:solidFill>
            <a:srgbClr val="2B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46268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90457" y="46268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8435" y="46268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46412" y="46268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24390" y="46268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02367" y="46268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80345" y="46268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58323" y="46268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636300" y="46268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14278" y="4626864"/>
            <a:ext cx="24140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5349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B8C7D3"/>
                </a:solidFill>
                <a:latin typeface="Microsoft JhengHei"/>
                <a:ea typeface="Microsoft JhengHei"/>
                <a:cs typeface="Microsoft JhengHei"/>
              </a:rPr>
              <a:t>同一 ActiveProtect 叢集集中管理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重點摘要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本文件依四大議題逐項回覆，以下為各議題結論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Synology ActiveProtect DP7400 雙機分流備份架構規劃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2240280"/>
          </a:xfrm>
          <a:prstGeom prst="roundRect">
            <a:avLst>
              <a:gd name="adj" fmla="val 5714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764792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8308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分流架構與故障影響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39"/>
            <a:ext cx="4251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500"/>
              </a:spcAft>
              <a:buClr>
                <a:srgbClr val="0E7C86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同一叢集＝集中管理＋工作負載分流，非 HA 架構</a:t>
            </a:r>
          </a:p>
          <a:p>
            <a:pPr algn="l" marL="228600" indent="-228600">
              <a:spcAft>
                <a:spcPts val="500"/>
              </a:spcAft>
              <a:buClr>
                <a:srgbClr val="0E7C86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單台故障時，另一台可「手動」接手備份，需重新完整備份</a:t>
            </a:r>
          </a:p>
          <a:p>
            <a:pPr algn="l" marL="228600" indent="-228600">
              <a:spcAft>
                <a:spcPts val="500"/>
              </a:spcAft>
              <a:buClr>
                <a:srgbClr val="0E7C86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建議設定交叉備份副本：SQL→A 14 天、關鍵 VM→B 7 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440680" cy="2240280"/>
          </a:xfrm>
          <a:prstGeom prst="roundRect">
            <a:avLst>
              <a:gd name="adj" fmla="val 5714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1764792"/>
            <a:ext cx="548640" cy="54864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78308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五年容量規劃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377439"/>
            <a:ext cx="4251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500"/>
              </a:spcAft>
              <a:buClr>
                <a:srgbClr val="D9822B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VM 設備第 5 年用量約 80.5 TB（66%）</a:t>
            </a:r>
          </a:p>
          <a:p>
            <a:pPr algn="l" marL="228600" indent="-228600">
              <a:spcAft>
                <a:spcPts val="500"/>
              </a:spcAft>
              <a:buClr>
                <a:srgbClr val="D9822B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SQL 設備第 5 年用量約 97.1 TB（80%），為容量瓶頸</a:t>
            </a:r>
          </a:p>
          <a:p>
            <a:pPr algn="l" marL="228600" indent="-228600">
              <a:spcAft>
                <a:spcPts val="500"/>
              </a:spcAft>
              <a:buClr>
                <a:srgbClr val="D9822B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安全水位 80%，建議第 4 年啟動擴充評估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440680" cy="2240280"/>
          </a:xfrm>
          <a:prstGeom prst="roundRect">
            <a:avLst>
              <a:gd name="adj" fmla="val 5714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59" y="4187952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0624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授權與未來擴充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800600"/>
            <a:ext cx="4251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500"/>
              </a:spcAft>
              <a:buClr>
                <a:srgbClr val="2E8B57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同一叢集前 3 台（含管理伺服器）免額外授權，本案 2 台無授權費</a:t>
            </a:r>
          </a:p>
          <a:p>
            <a:pPr algn="l" marL="228600" indent="-228600">
              <a:spcAft>
                <a:spcPts val="500"/>
              </a:spcAft>
              <a:buClr>
                <a:srgbClr val="2E8B57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第 4 台起依「備份伺服器台數」購買期限型授權</a:t>
            </a:r>
          </a:p>
          <a:p>
            <a:pPr algn="l" marL="228600" indent="-228600">
              <a:spcAft>
                <a:spcPts val="500"/>
              </a:spcAft>
              <a:buClr>
                <a:srgbClr val="2E8B57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不依容量、不依工作負載數量計價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931920"/>
            <a:ext cx="5440680" cy="2240280"/>
          </a:xfrm>
          <a:prstGeom prst="roundRect">
            <a:avLst>
              <a:gd name="adj" fmla="val 5714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4187952"/>
            <a:ext cx="548640" cy="548640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20624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交付文件與驗收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800600"/>
            <a:ext cx="4251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500"/>
              </a:spcAft>
              <a:buClr>
                <a:srgbClr val="0F2A3D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11 項文件全數提供，並納入驗收項目</a:t>
            </a:r>
          </a:p>
          <a:p>
            <a:pPr algn="l" marL="228600" indent="-228600">
              <a:spcAft>
                <a:spcPts val="500"/>
              </a:spcAft>
              <a:buClr>
                <a:srgbClr val="0F2A3D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驗收含還原演練、跨設備還原與不可變保護驗證</a:t>
            </a:r>
          </a:p>
          <a:p>
            <a:pPr algn="l" marL="228600" indent="-228600">
              <a:spcAft>
                <a:spcPts val="500"/>
              </a:spcAft>
              <a:buClr>
                <a:srgbClr val="0F2A3D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原廠 5 年硬體保固，維護 SLA 依合約訂定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331720"/>
            <a:ext cx="1188720" cy="118872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286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兩台 DP7400 分流架構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108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B8C7D3"/>
                </a:solidFill>
                <a:latin typeface="Microsoft JhengHei"/>
                <a:ea typeface="Microsoft JhengHei"/>
                <a:cs typeface="Microsoft JhengHei"/>
              </a:rPr>
              <a:t>叢集能力邊界・故障接管方式・Recovery Points 還原・功能矩陣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正式架構圖：VM／SQL 分流＋交叉備份副本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Synology ActiveProtect DP7400 雙機分流備份架構規劃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受保護工作負載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017520" cy="777240"/>
          </a:xfrm>
          <a:prstGeom prst="roundRect">
            <a:avLst>
              <a:gd name="adj" fmla="val 16470"/>
            </a:avLst>
          </a:prstGeom>
          <a:solidFill>
            <a:srgbClr val="E3F1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Hyper-V 主機叢集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3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虛擬機器（VM）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3017520" cy="777240"/>
          </a:xfrm>
          <a:prstGeom prst="roundRect">
            <a:avLst>
              <a:gd name="adj" fmla="val 16470"/>
            </a:avLst>
          </a:prstGeom>
          <a:solidFill>
            <a:srgbClr val="E3F1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VMware vSphere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虛擬機器（VM）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3017520" cy="777240"/>
          </a:xfrm>
          <a:prstGeom prst="roundRect">
            <a:avLst>
              <a:gd name="adj" fmla="val 16470"/>
            </a:avLst>
          </a:prstGeom>
          <a:solidFill>
            <a:srgbClr val="E3F1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735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File／SMB 檔案伺服器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依重要性訂定保留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3400"/>
            <a:ext cx="3017520" cy="777240"/>
          </a:xfrm>
          <a:prstGeom prst="roundRect">
            <a:avLst>
              <a:gd name="adj" fmla="val 16470"/>
            </a:avLst>
          </a:prstGeom>
          <a:solidFill>
            <a:srgbClr val="FBEFE2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165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SQL Server 主機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54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3 個 Instance／約 100 個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914400"/>
            <a:ext cx="5486400" cy="475488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8FA3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0058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ActiveProtect 叢集（同一站台）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463040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E3F1F2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57276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DP7400-A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9202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VM／File 備份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496312"/>
            <a:ext cx="2011680" cy="384048"/>
          </a:xfrm>
          <a:prstGeom prst="rect">
            <a:avLst/>
          </a:prstGeom>
          <a:solidFill>
            <a:srgbClr val="2B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59" y="256946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53097" y="256946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9635" y="256946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6172" y="256946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12710" y="256946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99248" y="256946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85785" y="256946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72323" y="256946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58860" y="256946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5398" y="256946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92240" y="3840480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FBEFE2"/>
          </a:solidFill>
          <a:ln w="2540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9502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DP7400-B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2976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SQL Server 備份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4873752"/>
            <a:ext cx="2011680" cy="384048"/>
          </a:xfrm>
          <a:prstGeom prst="rect">
            <a:avLst/>
          </a:prstGeom>
          <a:solidFill>
            <a:srgbClr val="2B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66559" y="494690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53097" y="494690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9635" y="494690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26172" y="494690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12710" y="494690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99248" y="494690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85785" y="494690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72323" y="494690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58860" y="494690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45398" y="4946904"/>
            <a:ext cx="149961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98280" y="1463040"/>
            <a:ext cx="2468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300"/>
              </a:spcAft>
              <a:buClr>
                <a:srgbClr val="0E7C86"/>
              </a:buClr>
              <a:buFont typeface="Arial"/>
              <a:buChar char="•"/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主要管理伺服器</a:t>
            </a:r>
          </a:p>
          <a:p>
            <a:pPr algn="l" marL="228600" indent="-228600">
              <a:spcAft>
                <a:spcPts val="300"/>
              </a:spcAft>
              <a:buClr>
                <a:srgbClr val="0E7C86"/>
              </a:buClr>
              <a:buFont typeface="Arial"/>
              <a:buChar char="•"/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VM／File 備份伺服器</a:t>
            </a:r>
          </a:p>
          <a:p>
            <a:pPr algn="l" marL="228600" indent="-228600">
              <a:spcAft>
                <a:spcPts val="300"/>
              </a:spcAft>
              <a:buClr>
                <a:srgbClr val="0E7C86"/>
              </a:buClr>
              <a:buFont typeface="Arial"/>
              <a:buChar char="•"/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VM 保留 7 天</a:t>
            </a:r>
          </a:p>
          <a:p>
            <a:pPr algn="l" marL="228600" indent="-228600">
              <a:spcAft>
                <a:spcPts val="300"/>
              </a:spcAft>
              <a:buClr>
                <a:srgbClr val="0E7C86"/>
              </a:buClr>
              <a:buFont typeface="Arial"/>
              <a:buChar char="•"/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接收 SQL 副本 14 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3840480"/>
            <a:ext cx="2468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300"/>
              </a:spcAft>
              <a:buClr>
                <a:srgbClr val="D9822B"/>
              </a:buClr>
              <a:buFont typeface="Arial"/>
              <a:buChar char="•"/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次要管理伺服器（Failover）</a:t>
            </a:r>
          </a:p>
          <a:p>
            <a:pPr algn="l" marL="228600" indent="-228600">
              <a:spcAft>
                <a:spcPts val="300"/>
              </a:spcAft>
              <a:buClr>
                <a:srgbClr val="D9822B"/>
              </a:buClr>
              <a:buFont typeface="Arial"/>
              <a:buChar char="•"/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SQL 備份伺服器</a:t>
            </a:r>
          </a:p>
          <a:p>
            <a:pPr algn="l" marL="228600" indent="-228600">
              <a:spcAft>
                <a:spcPts val="300"/>
              </a:spcAft>
              <a:buClr>
                <a:srgbClr val="D9822B"/>
              </a:buClr>
              <a:buFont typeface="Arial"/>
              <a:buChar char="•"/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SQL 保留 92 天</a:t>
            </a:r>
          </a:p>
          <a:p>
            <a:pPr algn="l" marL="228600" indent="-228600">
              <a:spcAft>
                <a:spcPts val="300"/>
              </a:spcAft>
              <a:buClr>
                <a:srgbClr val="D9822B"/>
              </a:buClr>
              <a:buFont typeface="Arial"/>
              <a:buChar char="•"/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接收關鍵 VM 副本 7 天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566160" y="1664208"/>
            <a:ext cx="2926080" cy="393192"/>
          </a:xfrm>
          <a:prstGeom prst="line">
            <a:avLst/>
          </a:prstGeom>
          <a:ln w="25400">
            <a:solidFill>
              <a:srgbClr val="0E7C8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566160" y="2286000"/>
            <a:ext cx="2926080" cy="338328"/>
          </a:xfrm>
          <a:prstGeom prst="line">
            <a:avLst/>
          </a:prstGeom>
          <a:ln w="25400">
            <a:solidFill>
              <a:srgbClr val="0E7C8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566160" y="2514600"/>
            <a:ext cx="2926080" cy="1069848"/>
          </a:xfrm>
          <a:prstGeom prst="line">
            <a:avLst/>
          </a:prstGeom>
          <a:ln w="25400">
            <a:solidFill>
              <a:srgbClr val="0E7C8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566160" y="4572000"/>
            <a:ext cx="2926080" cy="155448"/>
          </a:xfrm>
          <a:prstGeom prst="line">
            <a:avLst/>
          </a:prstGeom>
          <a:ln w="25400">
            <a:solidFill>
              <a:srgbClr val="D982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749039" y="42519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應用程式感知備份（VSS）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4760" y="11887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CBT／RCT 增量備份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269480" y="3063240"/>
            <a:ext cx="0" cy="777240"/>
          </a:xfrm>
          <a:prstGeom prst="line">
            <a:avLst/>
          </a:prstGeom>
          <a:ln w="25400">
            <a:solidFill>
              <a:srgbClr val="0E7C8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092440" y="3063240"/>
            <a:ext cx="0" cy="777240"/>
          </a:xfrm>
          <a:prstGeom prst="line">
            <a:avLst/>
          </a:prstGeom>
          <a:ln w="25400">
            <a:solidFill>
              <a:srgbClr val="D9822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263640" y="3246120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關鍵 VM 副本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79" y="324612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SQL 副本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349240"/>
            <a:ext cx="3017520" cy="548640"/>
          </a:xfrm>
          <a:prstGeom prst="roundRect">
            <a:avLst>
              <a:gd name="adj" fmla="val 23333"/>
            </a:avLst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管理者 Web 主控台（SSO＋MFA）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3566160" y="5486400"/>
            <a:ext cx="2606040" cy="137160"/>
          </a:xfrm>
          <a:prstGeom prst="line">
            <a:avLst/>
          </a:prstGeom>
          <a:ln w="19050">
            <a:solidFill>
              <a:srgbClr val="0F2A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48640" y="6108192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備份流量走專用 VLAN，每台 2×10GbE（可加裝 25GbE 網卡）；管理埠 1GbE 獨立。實線＝備份流向，虛線＝設備間備份副本。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同一叢集提供什麼、不提供什麼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ActiveProtect 叢集（站台）是「集中管理平台」，不是雙機 HA 叢集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Synology ActiveProtect DP7400 雙機分流備份架構規劃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4160520"/>
          </a:xfrm>
          <a:prstGeom prst="roundRect">
            <a:avLst>
              <a:gd name="adj" fmla="val 3076"/>
            </a:avLst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91640"/>
            <a:ext cx="502920" cy="5029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具備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1200"/>
              </a:spcAft>
              <a:buClr>
                <a:srgbClr val="2E8B57"/>
              </a:buClr>
              <a:buFont typeface="Arial"/>
              <a:buChar char="•"/>
            </a:pPr>
            <a:r>
              <a:rPr sz="16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單一 Web 主控台集中管理兩台設備與全部工作負載</a:t>
            </a:r>
          </a:p>
          <a:p>
            <a:pPr algn="l" marL="228600" indent="-228600">
              <a:spcAft>
                <a:spcPts val="1200"/>
              </a:spcAft>
              <a:buClr>
                <a:srgbClr val="2E8B57"/>
              </a:buClr>
              <a:buFont typeface="Arial"/>
              <a:buChar char="•"/>
            </a:pPr>
            <a:r>
              <a:rPr sz="16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保護計畫（排程、保留、不可變、副本）統一定義與套用</a:t>
            </a:r>
          </a:p>
          <a:p>
            <a:pPr algn="l" marL="228600" indent="-228600">
              <a:spcAft>
                <a:spcPts val="1200"/>
              </a:spcAft>
              <a:buClr>
                <a:srgbClr val="2E8B57"/>
              </a:buClr>
              <a:buFont typeface="Arial"/>
              <a:buChar char="•"/>
            </a:pPr>
            <a:r>
              <a:rPr sz="16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工作負載分流：VM 指派至 A、SQL 指派至 B</a:t>
            </a:r>
          </a:p>
          <a:p>
            <a:pPr algn="l" marL="228600" indent="-228600">
              <a:spcAft>
                <a:spcPts val="1200"/>
              </a:spcAft>
              <a:buClr>
                <a:srgbClr val="2E8B57"/>
              </a:buClr>
              <a:buFont typeface="Arial"/>
              <a:buChar char="•"/>
            </a:pPr>
            <a:r>
              <a:rPr sz="16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設備間備份副本（Backup Copy），可跨設備還原</a:t>
            </a:r>
          </a:p>
          <a:p>
            <a:pPr algn="l" marL="228600" indent="-228600">
              <a:spcAft>
                <a:spcPts val="1200"/>
              </a:spcAft>
              <a:buClr>
                <a:srgbClr val="2E8B57"/>
              </a:buClr>
              <a:buFont typeface="Arial"/>
              <a:buChar char="•"/>
            </a:pPr>
            <a:r>
              <a:rPr sz="16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管理伺服器故障時，可手動切換至次要管理伺服器</a:t>
            </a:r>
          </a:p>
          <a:p>
            <a:pPr algn="l" marL="228600" indent="-228600">
              <a:spcAft>
                <a:spcPts val="1200"/>
              </a:spcAft>
              <a:buClr>
                <a:srgbClr val="2E8B57"/>
              </a:buClr>
              <a:buFont typeface="Arial"/>
              <a:buChar char="•"/>
            </a:pPr>
            <a:r>
              <a:rPr sz="16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集中監控、報表、稽核記錄與角色權限控管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440680" cy="4160520"/>
          </a:xfrm>
          <a:prstGeom prst="roundRect">
            <a:avLst>
              <a:gd name="adj" fmla="val 3076"/>
            </a:avLst>
          </a:prstGeom>
          <a:solidFill>
            <a:srgbClr val="F8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69164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不具備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雙機 HA／自動故障接管（Active-Standby）</a:t>
            </a:r>
          </a:p>
          <a:p>
            <a:pPr algn="l" marL="228600" indent="-228600"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備份資料於兩台間自動同步（須另行設定備份副本）</a:t>
            </a:r>
          </a:p>
          <a:p>
            <a:pPr algn="l" marL="228600" indent="-228600"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設備故障時工作負載自動改派至另一台</a:t>
            </a:r>
          </a:p>
          <a:p>
            <a:pPr algn="l" marL="228600" indent="-228600"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兩台共用同一去重複資料庫或合併為單一儲存池</a:t>
            </a:r>
          </a:p>
          <a:p>
            <a:pPr algn="l" marL="228600" indent="-228600">
              <a:spcAft>
                <a:spcPts val="1200"/>
              </a:spcAft>
              <a:buClr>
                <a:srgbClr val="C0392B"/>
              </a:buClr>
              <a:buFont typeface="Arial"/>
              <a:buChar char="•"/>
            </a:pPr>
            <a:r>
              <a:rPr sz="16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未複寫之 Recovery Points 由另一台直接讀取還原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779008"/>
            <a:ext cx="11064240" cy="548640"/>
          </a:xfrm>
          <a:prstGeom prst="roundRect">
            <a:avLst>
              <a:gd name="adj" fmla="val 23333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結論：</a:t>
            </a: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本案 = 集中管理＋工作負載分流＋備份複寫（需設定）＋手動故障接管；非 HA。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Q1–Q3：叢集能力與跨設備接手備份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資料來源：Synology 官網 ActiveProtect Manager 技術規格、ActiveProtect Appliance 規格、ActiveProtect License Pack 說明（2026/10 查詢）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280160"/>
            <a:ext cx="640080" cy="640080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16151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同一叢集僅提供集中管理，或具備跨設備切換及故障接管？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1234439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集中管理＋分流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73352"/>
            <a:ext cx="9784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主要提供集中管理與工作負載分流。管理層有「次要管理伺服器」機制，管理伺服器故障時可手動切換接手管理功能；但備份工作與備份資料不會自動跨設備切換，非 HA 架構。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07208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035808"/>
            <a:ext cx="640080" cy="6400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71800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VM 專用 DP7400 故障時，SQL 專用 DP7400 可否暫時接手 VM 備份？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99008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可以（手動）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429000"/>
            <a:ext cx="9784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管理者於主控台將 VM 工作負載重新指派至 DP7400-B 並套用原保護計畫即可恢復備份。接手前須確認 B 剩餘容量與備份時窗；接手期間 B 同時承擔 SQL 與 VM 負載，並行上限為 40 台機器工作負載（排程 20 台）。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62856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4791456"/>
            <a:ext cx="640080" cy="64008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727448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SQL 專用 DP7400 故障時，VM 專用 DP7400 可否暫時接手 SQL 備份？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4745736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可以（手動）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184648"/>
            <a:ext cx="9784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將 SQL Server 主機工作負載重新指派至 DP7400-A。因 SQL 保留 92 天，A 需預留容量；本案建議平時即以備份副本將 SQL 複寫至 A（保留 14 天），故障時不僅可接手備份，也可立即由 A 還原近期資料庫版本。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Q4–Q6：完整備份、Recovery Points 與政策移轉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資料來源：Synology 官網 ActiveProtect Manager 技術規格、ActiveProtect Appliance 規格、ActiveProtect License Pack 說明（2026/10 查詢）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28016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16151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接手備份時是否需要重新執行 Full Backup？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1234439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需要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73352"/>
            <a:ext cx="9784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需要。</a:t>
            </a: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去重複資料庫與版本鏈儲存在原設備，接手設備的第一次備份為完整備份，其後恢復增量備份。來源端去重可減少重複傳輸，但仍應預估首次備份時間：以 40 TB VM 經 10GbE、有效傳輸 500–600 MB/s 估算，約需 18–24 小時。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07208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035808"/>
            <a:ext cx="640080" cy="640080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71800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故障設備上的 Recovery Points，能否由另一台直接還原？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99008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視副本而定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429000"/>
            <a:ext cx="9784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未設定備份副本：</a:t>
            </a: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不行。版本存於故障設備儲存池，須待設備修復（硬碟資料完好時，更換零件後即可恢復存取）。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已設定備份副本：</a:t>
            </a: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可以。直接由另一台設備上的副本執行整機、檔案、資料庫層級或即時還原。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62856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4791456"/>
            <a:ext cx="640080" cy="64008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727448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備份政策及工作負載能否快速移轉至另一台設備？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4745736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政策可、版本否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184648"/>
            <a:ext cx="9784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保護計畫為叢集層級設定，</a:t>
            </a: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可直接套用至另一台設備，數分鐘內完成；工作負載可重新指派，但歷史版本不會自動搬移，原設備舊版本依保留政策自然到期。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設備故障情境與處理流程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任一台故障均不影響另一類工作負載；受影響的一類需手動改派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Synology ActiveProtect DP7400 雙機分流備份架構規劃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4800600"/>
          </a:xfrm>
          <a:prstGeom prst="roundRect">
            <a:avLst>
              <a:gd name="adj" fmla="val 2666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727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情境 A：DP7400-A（VM）故障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48840"/>
            <a:ext cx="2057400" cy="1325880"/>
          </a:xfrm>
          <a:prstGeom prst="roundRect">
            <a:avLst>
              <a:gd name="adj" fmla="val 9655"/>
            </a:avLst>
          </a:prstGeom>
          <a:solidFill>
            <a:srgbClr val="EEF0F2"/>
          </a:solidFill>
          <a:ln w="25400">
            <a:solidFill>
              <a:srgbClr val="9AA5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22585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7A8690"/>
                </a:solidFill>
                <a:latin typeface="Microsoft JhengHei"/>
                <a:ea typeface="Microsoft JhengHei"/>
                <a:cs typeface="Microsoft JhengHei"/>
              </a:rPr>
              <a:t>DP7400-A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260604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7A8690"/>
                </a:solidFill>
                <a:latin typeface="Microsoft JhengHei"/>
                <a:ea typeface="Microsoft JhengHei"/>
                <a:cs typeface="Microsoft JhengHei"/>
              </a:rPr>
              <a:t>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907791"/>
            <a:ext cx="1691640" cy="384048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97533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52067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06600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1134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15668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70201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24735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9268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33802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51760" y="18745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2148840"/>
            <a:ext cx="2057400" cy="1325880"/>
          </a:xfrm>
          <a:prstGeom prst="roundRect">
            <a:avLst>
              <a:gd name="adj" fmla="val 9655"/>
            </a:avLst>
          </a:prstGeom>
          <a:solidFill>
            <a:srgbClr val="FBEFE2"/>
          </a:solidFill>
          <a:ln w="2540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22585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DP7400-B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260604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2907791"/>
            <a:ext cx="1691640" cy="384048"/>
          </a:xfrm>
          <a:prstGeom prst="rect">
            <a:avLst/>
          </a:prstGeom>
          <a:solidFill>
            <a:srgbClr val="2B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86200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40733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95267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9800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04334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58868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13401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67935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22468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77002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2971800" y="2807208"/>
            <a:ext cx="594360" cy="0"/>
          </a:xfrm>
          <a:prstGeom prst="line">
            <a:avLst/>
          </a:prstGeom>
          <a:ln w="31750">
            <a:solidFill>
              <a:srgbClr val="0E7C8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43200" y="3520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VM 改派</a:t>
            </a:r>
          </a:p>
        </p:txBody>
      </p:sp>
      <p:sp>
        <p:nvSpPr>
          <p:cNvPr id="39" name="Oval 38"/>
          <p:cNvSpPr/>
          <p:nvPr/>
        </p:nvSpPr>
        <p:spPr>
          <a:xfrm>
            <a:off x="822959" y="3959352"/>
            <a:ext cx="329184" cy="329184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393192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於 B 手動觸發 Failover，B 接手管理伺服器角色</a:t>
            </a:r>
          </a:p>
        </p:txBody>
      </p:sp>
      <p:sp>
        <p:nvSpPr>
          <p:cNvPr id="41" name="Oval 40"/>
          <p:cNvSpPr/>
          <p:nvPr/>
        </p:nvSpPr>
        <p:spPr>
          <a:xfrm>
            <a:off x="822959" y="4526280"/>
            <a:ext cx="329184" cy="329184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498848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VM 工作負載改派至 B，執行首次完整備份</a:t>
            </a:r>
          </a:p>
        </p:txBody>
      </p:sp>
      <p:sp>
        <p:nvSpPr>
          <p:cNvPr id="43" name="Oval 42"/>
          <p:cNvSpPr/>
          <p:nvPr/>
        </p:nvSpPr>
        <p:spPr>
          <a:xfrm>
            <a:off x="822959" y="5093208"/>
            <a:ext cx="329184" cy="329184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5065776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關鍵 VM 可由 B 上的副本立即還原；其餘 VM 舊版本待 A 修復</a:t>
            </a:r>
          </a:p>
        </p:txBody>
      </p:sp>
      <p:sp>
        <p:nvSpPr>
          <p:cNvPr id="45" name="Oval 44"/>
          <p:cNvSpPr/>
          <p:nvPr/>
        </p:nvSpPr>
        <p:spPr>
          <a:xfrm>
            <a:off x="822959" y="5660136"/>
            <a:ext cx="329184" cy="329184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5632704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A 修復後改派回 A，B 上暫存 VM 版本依保留到期釋放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1463040"/>
            <a:ext cx="5440680" cy="4800600"/>
          </a:xfrm>
          <a:prstGeom prst="roundRect">
            <a:avLst>
              <a:gd name="adj" fmla="val 2666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1572768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情境 B：DP7400-B（SQL）故障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2240" y="2148840"/>
            <a:ext cx="2057400" cy="1325880"/>
          </a:xfrm>
          <a:prstGeom prst="roundRect">
            <a:avLst>
              <a:gd name="adj" fmla="val 9655"/>
            </a:avLst>
          </a:prstGeom>
          <a:solidFill>
            <a:srgbClr val="E3F1F2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22585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DP7400-A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260604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VM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2907791"/>
            <a:ext cx="1691640" cy="384048"/>
          </a:xfrm>
          <a:prstGeom prst="rect">
            <a:avLst/>
          </a:prstGeom>
          <a:solidFill>
            <a:srgbClr val="2B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66559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21093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75627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230160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84694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539227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693761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848295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02828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57362" y="2980944"/>
            <a:ext cx="117957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235440" y="2148840"/>
            <a:ext cx="2057400" cy="1325880"/>
          </a:xfrm>
          <a:prstGeom prst="roundRect">
            <a:avLst>
              <a:gd name="adj" fmla="val 9655"/>
            </a:avLst>
          </a:prstGeom>
          <a:solidFill>
            <a:srgbClr val="EEF0F2"/>
          </a:solidFill>
          <a:ln w="25400">
            <a:solidFill>
              <a:srgbClr val="9AA5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72600" y="22585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7A8690"/>
                </a:solidFill>
                <a:latin typeface="Microsoft JhengHei"/>
                <a:ea typeface="Microsoft JhengHei"/>
                <a:cs typeface="Microsoft JhengHei"/>
              </a:rPr>
              <a:t>DP7400-B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72600" y="260604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7A8690"/>
                </a:solidFill>
                <a:latin typeface="Microsoft JhengHei"/>
                <a:ea typeface="Microsoft JhengHei"/>
                <a:cs typeface="Microsoft JhengHei"/>
              </a:rPr>
              <a:t>SQL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18319" y="2907791"/>
            <a:ext cx="1691640" cy="384048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509759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664293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818827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973360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127894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82428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36961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591495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746028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900562" y="2980944"/>
            <a:ext cx="117957" cy="237744"/>
          </a:xfrm>
          <a:prstGeom prst="rect">
            <a:avLst/>
          </a:prstGeom>
          <a:solidFill>
            <a:srgbClr val="A9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018519" y="18745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✕</a:t>
            </a:r>
          </a:p>
        </p:txBody>
      </p:sp>
      <p:cxnSp>
        <p:nvCxnSpPr>
          <p:cNvPr id="78" name="Connector 77"/>
          <p:cNvCxnSpPr/>
          <p:nvPr/>
        </p:nvCxnSpPr>
        <p:spPr>
          <a:xfrm flipH="1">
            <a:off x="8595360" y="2807208"/>
            <a:ext cx="594360" cy="0"/>
          </a:xfrm>
          <a:prstGeom prst="line">
            <a:avLst/>
          </a:prstGeom>
          <a:ln w="31750">
            <a:solidFill>
              <a:srgbClr val="D982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366760" y="3520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SQL 改派</a:t>
            </a:r>
          </a:p>
        </p:txBody>
      </p:sp>
      <p:sp>
        <p:nvSpPr>
          <p:cNvPr id="80" name="Oval 79"/>
          <p:cNvSpPr/>
          <p:nvPr/>
        </p:nvSpPr>
        <p:spPr>
          <a:xfrm>
            <a:off x="6446520" y="3959352"/>
            <a:ext cx="329184" cy="329184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3720" y="393192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管理功能不受影響（A 為主要管理伺服器）</a:t>
            </a:r>
          </a:p>
        </p:txBody>
      </p:sp>
      <p:sp>
        <p:nvSpPr>
          <p:cNvPr id="82" name="Oval 81"/>
          <p:cNvSpPr/>
          <p:nvPr/>
        </p:nvSpPr>
        <p:spPr>
          <a:xfrm>
            <a:off x="6446520" y="4526280"/>
            <a:ext cx="329184" cy="329184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3720" y="4498848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SQL 工作負載改派至 A，執行首次完整備份</a:t>
            </a:r>
          </a:p>
        </p:txBody>
      </p:sp>
      <p:sp>
        <p:nvSpPr>
          <p:cNvPr id="84" name="Oval 83"/>
          <p:cNvSpPr/>
          <p:nvPr/>
        </p:nvSpPr>
        <p:spPr>
          <a:xfrm>
            <a:off x="6446520" y="5093208"/>
            <a:ext cx="329184" cy="329184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03720" y="5065776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14 天內 SQL 版本可由 A 上的副本直接還原；15–92 天版本待 B 修復</a:t>
            </a:r>
          </a:p>
        </p:txBody>
      </p:sp>
      <p:sp>
        <p:nvSpPr>
          <p:cNvPr id="86" name="Oval 85"/>
          <p:cNvSpPr/>
          <p:nvPr/>
        </p:nvSpPr>
        <p:spPr>
          <a:xfrm>
            <a:off x="6446520" y="5660136"/>
            <a:ext cx="329184" cy="329184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03720" y="5632704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B 修復後改派回 B，92 天長期版本仍完整保存於 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Q7：本案架構功能矩陣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以功能逐項說明是否具備，以及設備故障時的實際影響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Synology ActiveProtect DP7400 雙機分流備份架構規劃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39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1874519"/>
                <a:gridCol w="4251960"/>
                <a:gridCol w="352044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功能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本案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設備故障時影響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集中管理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 具備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單一主控台管理兩台設備、保護計畫、監控、報表與權限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可手動切換至次要管理伺服器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工作負載分流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 具備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A：VM／File；B：SQL Server；各自獨立儲存池與去重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單台故障僅影響該類工作負載備份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備份複寫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 具備（需設定）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建議 SQL→A 14 天、關鍵 VM→B 7 天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已複寫版本可由另一台直接還原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故障接管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D98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◐ 部分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管理層 Failover＋工作負載手動改派，非自動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需人工介入；接手後首次為完整備份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C039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✕ 不具備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8E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非雙機熱備援，不具自動切換與資料即時同步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改派完成前，受影響工作負載暫停備份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8666"/>
            </a:avLst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7FD0D6"/>
                </a:solidFill>
                <a:latin typeface="Microsoft JhengHei"/>
                <a:ea typeface="Microsoft JhengHei"/>
                <a:cs typeface="Microsoft JhengHei"/>
              </a:rPr>
              <a:t>本案功能組合：</a:t>
            </a:r>
            <a:r>
              <a:rPr sz="16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集中管理＋工作負載分流＋備份複寫＋手動故障接管（不含 HA）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建議設計：選擇性交叉備份副本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以有限容量換取「任一台故障，最關鍵資料仍可立即還原」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Synology ActiveProtect DP7400 雙機分流備份架構規劃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1600200"/>
          </a:xfrm>
          <a:prstGeom prst="roundRect">
            <a:avLst>
              <a:gd name="adj" fmla="val 8000"/>
            </a:avLst>
          </a:prstGeom>
          <a:solidFill>
            <a:srgbClr val="E3F1F2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DP7400-A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VM 7 天＋SQL 副本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70632"/>
            <a:ext cx="2103120" cy="384048"/>
          </a:xfrm>
          <a:prstGeom prst="rect">
            <a:avLst/>
          </a:prstGeom>
          <a:solidFill>
            <a:srgbClr val="2B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2843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1521" y="2843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97203" y="2843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92884" y="2843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8566" y="2843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84248" y="2843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9929" y="2843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75611" y="2843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1292" y="2843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66974" y="2843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160520"/>
            <a:ext cx="2468880" cy="1600200"/>
          </a:xfrm>
          <a:prstGeom prst="roundRect">
            <a:avLst>
              <a:gd name="adj" fmla="val 8000"/>
            </a:avLst>
          </a:prstGeom>
          <a:solidFill>
            <a:srgbClr val="FBEFE2"/>
          </a:solidFill>
          <a:ln w="2540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702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DP7400-B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177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SQL 92 天＋VM 副本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193792"/>
            <a:ext cx="2103120" cy="384048"/>
          </a:xfrm>
          <a:prstGeom prst="rect">
            <a:avLst/>
          </a:prstGeom>
          <a:solidFill>
            <a:srgbClr val="2B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526694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1521" y="526694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97203" y="526694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92884" y="526694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88566" y="526694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84248" y="526694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79929" y="526694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5611" y="526694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71292" y="526694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66974" y="526694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554480" y="3337560"/>
            <a:ext cx="0" cy="822960"/>
          </a:xfrm>
          <a:prstGeom prst="line">
            <a:avLst/>
          </a:prstGeom>
          <a:ln w="31750">
            <a:solidFill>
              <a:srgbClr val="0E7C8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377440" y="3337560"/>
            <a:ext cx="0" cy="822960"/>
          </a:xfrm>
          <a:prstGeom prst="line">
            <a:avLst/>
          </a:prstGeom>
          <a:ln w="31750">
            <a:solidFill>
              <a:srgbClr val="D9822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383280" y="1737360"/>
            <a:ext cx="822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566160" y="1737360"/>
          <a:ext cx="8046718" cy="22677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89475"/>
                <a:gridCol w="2384213"/>
                <a:gridCol w="1887502"/>
                <a:gridCol w="1092764"/>
                <a:gridCol w="1092764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副本方向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範圍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時機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副本保留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不可變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SQL：B → A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全部 SQL Server 主機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每次備份後立即複製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 天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 天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VM：A → B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關鍵 VM（約 15%）
AD/DNS、ERP、郵件等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每日備份後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 天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 天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選配：異地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SQL 每週版本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每週排程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依法規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建議啟用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566160" y="4206240"/>
            <a:ext cx="80467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為何不做完整互為副本？</a:t>
            </a:r>
          </a:p>
          <a:p>
            <a:pPr algn="l" marL="228600" indent="-228600">
              <a:spcAft>
                <a:spcPts val="600"/>
              </a:spcAft>
              <a:buClr>
                <a:srgbClr val="C0392B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兩台各自保存對方全部資料時，第 4 年即需 126.3 TB（104%），超過單台可用容量。</a:t>
            </a:r>
          </a:p>
          <a:p>
            <a:pPr algn="l" marL="228600" indent="-228600">
              <a:spcAft>
                <a:spcPts val="600"/>
              </a:spcAft>
              <a:buClr>
                <a:srgbClr val="0E7C86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SQL 為長期保留（92 天）且業務關鍵，優先複寫近 14 天；VM 僅複寫關鍵主機。</a:t>
            </a:r>
          </a:p>
          <a:p>
            <a:pPr algn="l" marL="228600" indent="-228600">
              <a:spcAft>
                <a:spcPts val="600"/>
              </a:spcAft>
              <a:buClr>
                <a:srgbClr val="0E7C86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異地副本可選 C2 Object Storage、AWS S3、S3 相容儲存或 ActiveProtect Vault，達成 3-2-1 原則。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SQL Server 保護設計與限制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以 SQL Server 主機為單位進行應用程式感知備份，資料庫層級還原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資料來源：Synology 官網 ActiveProtect Manager 技術規格、ActiveProtect Appliance 規格、ActiveProtect License Pack 說明（2026/10 查詢）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6675120" cy="804672"/>
          </a:xfrm>
          <a:prstGeom prst="roundRect">
            <a:avLst>
              <a:gd name="adj" fmla="val 15909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保護方式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581912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VSS 應用程式感知備份，確保資料庫交易一致性；交易記錄可選擇備份後截斷或保留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41448"/>
            <a:ext cx="6675120" cy="804672"/>
          </a:xfrm>
          <a:prstGeom prst="roundRect">
            <a:avLst>
              <a:gd name="adj" fmla="val 15909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32888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備份頻率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51460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關鍵資料庫每 6 小時一次，一般資料庫每 12–24 小時一次（RPO 依此設定）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74136"/>
            <a:ext cx="6675120" cy="804672"/>
          </a:xfrm>
          <a:prstGeom prst="roundRect">
            <a:avLst>
              <a:gd name="adj" fmla="val 15909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65576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保留設計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447288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建議 GFS：每 6 小時版本保留 14 天，每日版本保留至 92 天，兼顧 RPO 與容量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06824"/>
            <a:ext cx="6675120" cy="804672"/>
          </a:xfrm>
          <a:prstGeom prst="roundRect">
            <a:avLst>
              <a:gd name="adj" fmla="val 15909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98264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還原方式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379976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資料庫／Instance 層級、整機還原、檔案下載、即時還原至 Hyper-V／VMware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508760"/>
            <a:ext cx="4114800" cy="3602736"/>
          </a:xfrm>
          <a:prstGeom prst="roundRect">
            <a:avLst>
              <a:gd name="adj" fmla="val 3553"/>
            </a:avLst>
          </a:prstGeom>
          <a:solidFill>
            <a:srgbClr val="F8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16459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導入前須確認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103120"/>
            <a:ext cx="3749039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1000"/>
              </a:spcAft>
              <a:buClr>
                <a:srgbClr val="C0392B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不支援 Windows 故障轉移叢集（WSFC）上的 SQL Server</a:t>
            </a:r>
          </a:p>
          <a:p>
            <a:pPr algn="l" marL="228600" indent="-228600">
              <a:spcAft>
                <a:spcPts val="1000"/>
              </a:spcAft>
              <a:buClr>
                <a:srgbClr val="C0392B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SQL Server 2016 需 APM 1.2 以上版本；支援 2016–2025</a:t>
            </a:r>
          </a:p>
          <a:p>
            <a:pPr algn="l" marL="228600" indent="-228600">
              <a:spcAft>
                <a:spcPts val="1000"/>
              </a:spcAft>
              <a:buClr>
                <a:srgbClr val="C0392B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需任意時間點（Point-in-Time）還原時，建議保留 SQL 原生交易記錄備份（如每 15 分鐘），檔案落地本機並隨整機備份保護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4736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容量影響：</a:t>
            </a: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採 GFS 保留時，14 天後僅保留每日版本，較「92 天全部保留」可再降低約 15–30% 增量容量（依資料覆寫特性）；本文件容量計算以未採 GFS 的保守值估算。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331720"/>
            <a:ext cx="1188720" cy="118872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286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五年容量規劃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108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B8C7D3"/>
                </a:solidFill>
                <a:latin typeface="Microsoft JhengHei"/>
                <a:ea typeface="Microsoft JhengHei"/>
                <a:cs typeface="Microsoft JhengHei"/>
              </a:rPr>
              <a:t>規格基準・估算假設・VM／SQL 計算表・複寫與不可變・安全水位與擴充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規格基準與容量估算假設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資料來源：Synology 官網 ActiveProtect Manager 技術規格、ActiveProtect Appliance 規格、ActiveProtect License Pack 說明（2026/10 查詢）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4023360" cy="5257800"/>
          </a:xfrm>
          <a:prstGeom prst="roundRect">
            <a:avLst>
              <a:gd name="adj" fmla="val 3181"/>
            </a:avLst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7FD0D6"/>
                </a:solidFill>
                <a:latin typeface="Microsoft JhengHei"/>
                <a:ea typeface="Microsoft JhengHei"/>
                <a:cs typeface="Microsoft JhengHei"/>
              </a:rPr>
              <a:t>DP7400 單台規格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8C7D3"/>
                </a:solidFill>
                <a:latin typeface="Microsoft JhengHei"/>
                <a:ea typeface="Microsoft JhengHei"/>
                <a:cs typeface="Microsoft JhengHei"/>
              </a:rPr>
              <a:t>處理器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6916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AMD EPYC 7272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8C7D3"/>
                </a:solidFill>
                <a:latin typeface="Microsoft JhengHei"/>
                <a:ea typeface="Microsoft JhengHei"/>
                <a:cs typeface="Microsoft JhengHei"/>
              </a:rPr>
              <a:t>記憶體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2402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64 GB（最大 512 GB）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8C7D3"/>
                </a:solidFill>
                <a:latin typeface="Microsoft JhengHei"/>
                <a:ea typeface="Microsoft JhengHei"/>
                <a:cs typeface="Microsoft JhengHei"/>
              </a:rPr>
              <a:t>硬碟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7889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 × 20 TB（RAID 6＋Spare）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8C7D3"/>
                </a:solidFill>
                <a:latin typeface="Microsoft JhengHei"/>
                <a:ea typeface="Microsoft JhengHei"/>
                <a:cs typeface="Microsoft JhengHei"/>
              </a:rPr>
              <a:t>SSD 快取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3375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× 3.84 TB，RAID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8C7D3"/>
                </a:solidFill>
                <a:latin typeface="Microsoft JhengHei"/>
                <a:ea typeface="Microsoft JhengHei"/>
                <a:cs typeface="Microsoft JhengHei"/>
              </a:rPr>
              <a:t>網路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8862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× 10GbE＋1 × 1GbE 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8C7D3"/>
                </a:solidFill>
                <a:latin typeface="Microsoft JhengHei"/>
                <a:ea typeface="Microsoft JhengHei"/>
                <a:cs typeface="Microsoft JhengHei"/>
              </a:rPr>
              <a:t>擴充槽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434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× PCIe Gen3 x8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79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8C7D3"/>
                </a:solidFill>
                <a:latin typeface="Microsoft JhengHei"/>
                <a:ea typeface="Microsoft JhengHei"/>
                <a:cs typeface="Microsoft JhengHei"/>
              </a:rPr>
              <a:t>建議備份來源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983479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83.5 TB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8C7D3"/>
                </a:solidFill>
                <a:latin typeface="Microsoft JhengHei"/>
                <a:ea typeface="Microsoft JhengHei"/>
                <a:cs typeface="Microsoft JhengHei"/>
              </a:rPr>
              <a:t>規劃可用容量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321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約 122 TB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846320" y="1005840"/>
          <a:ext cx="6766559" cy="42793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52996"/>
                <a:gridCol w="1757548"/>
                <a:gridCol w="2856015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估算項目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VM（DP7400-A）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SQL Server（DP7400-B）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導入時來源資料量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 TB（約 80 台）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 TB（DB 9＋系統 1 TB）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年資料成長率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每日平均變更率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6%（資料頁 3.5%＋Log 2.5%）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保留政策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 天（每日 1 版本）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92 天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完整備份縮減率（去重＋壓縮）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2.0 : 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1.8 : 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增量縮減率（壓縮）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1.5 : 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1.6 : 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中繼資料＋不可變緩衝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交叉副本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SQL 副本 14 天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關鍵 VM（15%）副本 7 天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846320" y="544068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假設值依現況使用趨勢保守估算；縮減率採業界保守值（原廠宣稱可達更高），正式導入前建議以 POC 實測資料校正計算書。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VM 專用 DP7400-A：五年容量計算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Synology ActiveProtect DP7400 雙機分流備份架構規劃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2066543" cy="1051560"/>
          </a:xfrm>
          <a:prstGeom prst="roundRect">
            <a:avLst>
              <a:gd name="adj" fmla="val 12173"/>
            </a:avLst>
          </a:prstGeom>
          <a:solidFill>
            <a:srgbClr val="E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8470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80 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81912"/>
            <a:ext cx="18470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VM 數量（導入時）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4" y="960120"/>
            <a:ext cx="2066543" cy="1051560"/>
          </a:xfrm>
          <a:prstGeom prst="roundRect">
            <a:avLst>
              <a:gd name="adj" fmla="val 12173"/>
            </a:avLst>
          </a:prstGeom>
          <a:solidFill>
            <a:srgbClr val="E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1051560"/>
            <a:ext cx="18470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40.0 TB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1581912"/>
            <a:ext cx="18470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來源資料量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960120"/>
            <a:ext cx="2066543" cy="1051560"/>
          </a:xfrm>
          <a:prstGeom prst="roundRect">
            <a:avLst>
              <a:gd name="adj" fmla="val 12173"/>
            </a:avLst>
          </a:prstGeom>
          <a:solidFill>
            <a:srgbClr val="E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1051560"/>
            <a:ext cx="18470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1.2 TB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7216" y="1581912"/>
            <a:ext cx="18470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每日變更量（3%）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960120"/>
            <a:ext cx="2066543" cy="1051560"/>
          </a:xfrm>
          <a:prstGeom prst="roundRect">
            <a:avLst>
              <a:gd name="adj" fmla="val 12173"/>
            </a:avLst>
          </a:prstGeom>
          <a:solidFill>
            <a:srgbClr val="E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051560"/>
            <a:ext cx="18470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2.0 / 1.5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81912"/>
            <a:ext cx="18470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完整 / 增量縮減率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46336" y="960120"/>
            <a:ext cx="2066543" cy="1051560"/>
          </a:xfrm>
          <a:prstGeom prst="roundRect">
            <a:avLst>
              <a:gd name="adj" fmla="val 12173"/>
            </a:avLst>
          </a:prstGeom>
          <a:solidFill>
            <a:srgbClr val="E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6063" y="1051560"/>
            <a:ext cx="184708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28.2 TB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6063" y="1581912"/>
            <a:ext cx="18470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7 天保留所需容量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2240280"/>
          <a:ext cx="11064235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53737"/>
                <a:gridCol w="862148"/>
                <a:gridCol w="1101634"/>
                <a:gridCol w="1053737"/>
                <a:gridCol w="957942"/>
                <a:gridCol w="957942"/>
                <a:gridCol w="1005839"/>
                <a:gridCol w="1101634"/>
                <a:gridCol w="1053737"/>
                <a:gridCol w="862148"/>
                <a:gridCol w="1053737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年度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VM 台數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來源資料量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完整基底
÷2.0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 日增量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緩衝 10%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VM 合計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＋SQL 副本
14 天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設備合計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使用率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距 80%
安全容量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導入時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40.0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20.0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5.6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2.6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28.2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11.9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40.0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33%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57.6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年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86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46.0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23.0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6.4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2.9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32.4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13.7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46.1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38%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51.5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3 年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60.8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30.4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8.5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3.9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42.8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18.1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60.9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36.7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年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118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80.5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40.2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11.3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56.6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23.9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80.5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66%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17.1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3F1F2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516636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計算式：</a:t>
            </a: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VM 所需容量 ＝（來源 ÷ 2.0 ＋ 來源 × 3% × 7 ÷ 1.5）× 1.10；表內單位 TB，可用容量以 122 TB 計。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第 5 年結論：</a:t>
            </a: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含 SQL 副本共 80.5 TB，使用率 66%，實體剩餘 41.5 TB、距 80% 安全水位尚餘 17.1 TB，可承接部分 File／SMB。VM 台數以每年 8% 成長估算。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SQL 專用 DP7400-B：五年容量計算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Synology ActiveProtect DP7400 雙機分流備份架構規劃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1691639" cy="1051560"/>
          </a:xfrm>
          <a:prstGeom prst="roundRect">
            <a:avLst>
              <a:gd name="adj" fmla="val 12173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4721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3／約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81912"/>
            <a:ext cx="14721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Instance／DB 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960120"/>
            <a:ext cx="1691639" cy="1051560"/>
          </a:xfrm>
          <a:prstGeom prst="roundRect">
            <a:avLst>
              <a:gd name="adj" fmla="val 12173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2888" y="1051560"/>
            <a:ext cx="14721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9.0 TB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1581912"/>
            <a:ext cx="14721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DB 資料量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960120"/>
            <a:ext cx="1691639" cy="1051560"/>
          </a:xfrm>
          <a:prstGeom prst="roundRect">
            <a:avLst>
              <a:gd name="adj" fmla="val 12173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7" y="1051560"/>
            <a:ext cx="14721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5.6 TB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1581912"/>
            <a:ext cx="14721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Full（縮減後）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199" y="960120"/>
            <a:ext cx="1691639" cy="1051560"/>
          </a:xfrm>
          <a:prstGeom prst="roundRect">
            <a:avLst>
              <a:gd name="adj" fmla="val 12173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7" y="1051560"/>
            <a:ext cx="14721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350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7" y="1581912"/>
            <a:ext cx="14721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每日 Differential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960120"/>
            <a:ext cx="1691639" cy="1051560"/>
          </a:xfrm>
          <a:prstGeom prst="roundRect">
            <a:avLst>
              <a:gd name="adj" fmla="val 12173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7" y="1051560"/>
            <a:ext cx="14721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250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7" y="1581912"/>
            <a:ext cx="14721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每日 Log 增長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960120"/>
            <a:ext cx="1691639" cy="1051560"/>
          </a:xfrm>
          <a:prstGeom prst="roundRect">
            <a:avLst>
              <a:gd name="adj" fmla="val 12173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30967" y="1051560"/>
            <a:ext cx="14721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44.1 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30967" y="1581912"/>
            <a:ext cx="14721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92 天保留所需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8640" y="2240280"/>
          <a:ext cx="11064236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86666"/>
                <a:gridCol w="1185454"/>
                <a:gridCol w="1136060"/>
                <a:gridCol w="1136060"/>
                <a:gridCol w="1037272"/>
                <a:gridCol w="1136060"/>
                <a:gridCol w="1185454"/>
                <a:gridCol w="1136060"/>
                <a:gridCol w="938484"/>
                <a:gridCol w="1086666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年度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來源資料量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完整基底
÷1.8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92 日增量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緩衝 10%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SQL 合計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＋關鍵 VM
副本 7 天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設備合計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使用率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距 80%
安全容量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導入時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10.0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5.6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34.5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44.1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4.2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48.3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49.3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年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11.5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6.4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39.7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4.6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50.7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4.9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55.5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42.1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3 年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15.2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8.4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52.5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67.0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6.4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73.4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24.2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年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20.1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11.2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69.4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8.1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88.6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8.5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97.1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D982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80%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C039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BEFE2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48640" y="516636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計算式：</a:t>
            </a: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SQL 所需容量 ＝（來源 ÷ 1.8 ＋ 來源 × 6% × 92 ÷ 1.6）× 1.10；92 天累積 Log 原始量約 23 TB（導入時）。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第 5 年結論：</a:t>
            </a: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含關鍵 VM 副本共 97.1 TB，使用率 80%，實體剩餘 24.9 TB、已達 80% 安全水位；建議第 4 年（約 69%）啟動擴充或改採 GFS 保留。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五年容量趨勢：SQL 設備為容量瓶頸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堆疊＝主要備份＋交叉副本；圖表上限為單台可用容量 122 TB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Synology ActiveProtect DP7400 雙機分流備份架構規劃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463040"/>
          <a:ext cx="54406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72200" y="1463040"/>
          <a:ext cx="544068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623560"/>
            <a:ext cx="5440680" cy="640080"/>
          </a:xfrm>
          <a:prstGeom prst="roundRect">
            <a:avLst>
              <a:gd name="adj" fmla="val 20000"/>
            </a:avLst>
          </a:prstGeom>
          <a:solidFill>
            <a:srgbClr val="E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第 5 年：</a:t>
            </a: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80.5 TB／使用率 66%　仍有餘裕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5623560"/>
            <a:ext cx="5440680" cy="640080"/>
          </a:xfrm>
          <a:prstGeom prst="roundRect">
            <a:avLst>
              <a:gd name="adj" fmla="val 20000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第 5 年：</a:t>
            </a: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97.1 TB／使用率 80%　達安全水位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複寫容量與不可變備份的容量占用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Synology ActiveProtect DP7400 雙機分流備份架構規劃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05840"/>
          <a:ext cx="11064240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2651760"/>
                <a:gridCol w="329184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比較項目（第 5 年）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方案一：不設副本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方案二：選擇性交叉副本（建議）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方案三：完整互為副本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DP7400-A 用量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56.6 TB（46%）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80.5 TB（66%）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145.3 TB（119%）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8E5E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DP7400-B 用量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88.6 TB（73%）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97.1 TB（80%）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145.3 TB（119%）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8E5E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單台故障可立即還原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SQL 近 14 天、關鍵 VM 7 天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全部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可行性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可行，但無跨設備還原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可行，第 4 年啟動擴充評估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4 年即超過可用容量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8E5E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520440"/>
            <a:ext cx="5440680" cy="2514600"/>
          </a:xfrm>
          <a:prstGeom prst="roundRect">
            <a:avLst>
              <a:gd name="adj" fmla="val 509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是否已納入複寫容量？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0E7C86"/>
              </a:buClr>
              <a:buFont typeface="Arial"/>
              <a:buChar char="•"/>
            </a:pPr>
            <a:r>
              <a:rPr sz="1400" b="1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已納入。</a:t>
            </a: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本計算書採方案二，SQL 副本計入 A、關鍵 VM 副本計入 B。</a:t>
            </a:r>
          </a:p>
          <a:p>
            <a:pPr algn="l" marL="228600" indent="-228600">
              <a:spcAft>
                <a:spcPts val="600"/>
              </a:spcAft>
              <a:buClr>
                <a:srgbClr val="0E7C86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副本於目標設備另行去重與壓縮，計算方式與主要備份相同。</a:t>
            </a:r>
          </a:p>
          <a:p>
            <a:pPr algn="l" marL="228600" indent="-228600">
              <a:spcAft>
                <a:spcPts val="600"/>
              </a:spcAft>
              <a:buClr>
                <a:srgbClr val="0E7C86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異地／雲端副本不占用兩台 DP7400 容量。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520440"/>
            <a:ext cx="5440680" cy="2514600"/>
          </a:xfrm>
          <a:prstGeom prst="roundRect">
            <a:avLst>
              <a:gd name="adj" fmla="val 509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是否已納入不可變備份占用？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50292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  <a:buClr>
                <a:srgbClr val="D9822B"/>
              </a:buClr>
              <a:buFont typeface="Arial"/>
              <a:buChar char="•"/>
            </a:pPr>
            <a:r>
              <a:rPr sz="1400" b="1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已納入。</a:t>
            </a: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不可變本身不產生額外副本；鎖定期間版本不可刪除或合併，以 5% 緩衝計入（含於 10%）。</a:t>
            </a:r>
          </a:p>
          <a:p>
            <a:pPr algn="l" marL="228600" indent="-228600">
              <a:spcAft>
                <a:spcPts val="600"/>
              </a:spcAft>
              <a:buClr>
                <a:srgbClr val="D9822B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不可變期間設為等於保留期：VM 7 天、SQL 92 天。</a:t>
            </a:r>
          </a:p>
          <a:p>
            <a:pPr algn="l" marL="228600" indent="-228600">
              <a:spcAft>
                <a:spcPts val="600"/>
              </a:spcAft>
              <a:buClr>
                <a:srgbClr val="D9822B"/>
              </a:buClr>
              <a:buFont typeface="Arial"/>
              <a:buChar char="•"/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不可變計畫的保留須以「天數」設定；鎖定後縮短保留不會提前釋放空間。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容量安全水位與擴充方式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資料來源：Synology 官網 ActiveProtect Manager 技術規格、ActiveProtect Appliance 規格、ActiveProtect License Pack 說明（2026/10 查詢）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建議安全水位（以單台可用容量 122 TB 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744968" cy="5943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0–70%｜正常營運</a:t>
            </a:r>
          </a:p>
        </p:txBody>
      </p:sp>
      <p:sp>
        <p:nvSpPr>
          <p:cNvPr id="7" name="Rectangle 6"/>
          <p:cNvSpPr/>
          <p:nvPr/>
        </p:nvSpPr>
        <p:spPr>
          <a:xfrm>
            <a:off x="8293608" y="1417320"/>
            <a:ext cx="1106424" cy="594360"/>
          </a:xfrm>
          <a:prstGeom prst="rect">
            <a:avLst/>
          </a:prstGeom>
          <a:solidFill>
            <a:srgbClr val="E6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70–80%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規劃擴充</a:t>
            </a:r>
          </a:p>
        </p:txBody>
      </p:sp>
      <p:sp>
        <p:nvSpPr>
          <p:cNvPr id="8" name="Rectangle 7"/>
          <p:cNvSpPr/>
          <p:nvPr/>
        </p:nvSpPr>
        <p:spPr>
          <a:xfrm>
            <a:off x="9400032" y="1417320"/>
            <a:ext cx="1106424" cy="594360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80–90%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啟動採購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06456" y="1417320"/>
            <a:ext cx="1106424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&gt;90%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危急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7743762" y="2011680"/>
            <a:ext cx="219456" cy="182880"/>
          </a:xfrm>
          <a:prstGeom prst="triangl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9090" y="22128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A 第 5 年 66%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9246646" y="2011680"/>
            <a:ext cx="219456" cy="182880"/>
          </a:xfrm>
          <a:prstGeom prst="triangl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1974" y="22128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B 第 5 年 80%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2743200"/>
          <a:ext cx="1106424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4480560"/>
                <a:gridCol w="1737360"/>
                <a:gridCol w="265176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擴充方式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授權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概算（參考）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新增第 3 台 DP7400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加入同一叢集，承接部分 SQL 或 File／SMB；可用容量再增加約 122 TB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免授權（前 3 台內）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設備費用依當期報價（國際建議售價約 €40,000）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② 雲端分層／異地副本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將較舊 SQL 版本分層至 C2／S3／ActiveProtect Vault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免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依雲端容量月租計費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③ 調整保留為 GFS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SQL 14 天後僅保留每日版本，可降約 15–30% 增量容量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免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無額外費用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④ 第 4 台以上設備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 ①，叢集第 4 台起需 License Pack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每台 1 份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授權約 €1,800／台／3 年＋設備費用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DP7400 出貨即為 10 × 20 TB 硬碟滿配，容量擴充以新增設備或分層為主；記憶體（最大 512 GB）與 25GbE 網卡可依效能需求擴充。概算為公開市場參考價，以原廠／經銷報價為準。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VM 與 SQL 容量不平衡時：可重新分配備份工作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以「主機／VM」為單位改派至另一台設備，不需更換架構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Synology ActiveProtect DP7400 雙機分流備份架構規劃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468880" cy="1600200"/>
          </a:xfrm>
          <a:prstGeom prst="roundRect">
            <a:avLst>
              <a:gd name="adj" fmla="val 8000"/>
            </a:avLst>
          </a:prstGeom>
          <a:solidFill>
            <a:srgbClr val="FBEFE2"/>
          </a:solidFill>
          <a:ln w="2540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D9822B"/>
                </a:solidFill>
                <a:latin typeface="Microsoft JhengHei"/>
                <a:ea typeface="Microsoft JhengHei"/>
                <a:cs typeface="Microsoft JhengHei"/>
              </a:rPr>
              <a:t>DP7400-B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SQL｜第 5 年 80%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42032"/>
            <a:ext cx="2103120" cy="384048"/>
          </a:xfrm>
          <a:prstGeom prst="rect">
            <a:avLst/>
          </a:prstGeom>
          <a:solidFill>
            <a:srgbClr val="2B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26151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1521" y="26151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97203" y="26151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92884" y="26151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8566" y="26151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84248" y="26151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9929" y="26151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75611" y="26151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1292" y="26151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66974" y="26151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2468880" cy="1600200"/>
          </a:xfrm>
          <a:prstGeom prst="roundRect">
            <a:avLst>
              <a:gd name="adj" fmla="val 8000"/>
            </a:avLst>
          </a:prstGeom>
          <a:solidFill>
            <a:srgbClr val="E3F1F2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330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0E7C86"/>
                </a:solidFill>
                <a:latin typeface="Microsoft JhengHei"/>
                <a:ea typeface="Microsoft JhengHei"/>
                <a:cs typeface="Microsoft JhengHei"/>
              </a:rPr>
              <a:t>DP7400-A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805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VM｜第 5 年 66%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056632"/>
            <a:ext cx="2103120" cy="384048"/>
          </a:xfrm>
          <a:prstGeom prst="rect">
            <a:avLst/>
          </a:prstGeom>
          <a:solidFill>
            <a:srgbClr val="2B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5129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1521" y="5129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97203" y="5129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92884" y="5129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88566" y="5129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84248" y="5129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79929" y="5129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5611" y="5129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71292" y="5129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66974" y="5129784"/>
            <a:ext cx="159105" cy="237744"/>
          </a:xfrm>
          <a:prstGeom prst="rect">
            <a:avLst/>
          </a:prstGeom>
          <a:solidFill>
            <a:srgbClr val="9FB1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965960" y="3108960"/>
            <a:ext cx="0" cy="914400"/>
          </a:xfrm>
          <a:prstGeom prst="line">
            <a:avLst/>
          </a:prstGeom>
          <a:ln w="38100">
            <a:solidFill>
              <a:srgbClr val="0F2A3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103120" y="333756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改派部分 SQL 主機</a:t>
            </a:r>
          </a:p>
        </p:txBody>
      </p:sp>
      <p:sp>
        <p:nvSpPr>
          <p:cNvPr id="36" name="Oval 35"/>
          <p:cNvSpPr/>
          <p:nvPr/>
        </p:nvSpPr>
        <p:spPr>
          <a:xfrm>
            <a:off x="4297680" y="1508760"/>
            <a:ext cx="502920" cy="502920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13716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觸發條件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1755648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任一台使用率 &gt; 70%，且另一台 &lt; 60% 時啟動評估</a:t>
            </a:r>
          </a:p>
        </p:txBody>
      </p:sp>
      <p:sp>
        <p:nvSpPr>
          <p:cNvPr id="39" name="Oval 38"/>
          <p:cNvSpPr/>
          <p:nvPr/>
        </p:nvSpPr>
        <p:spPr>
          <a:xfrm>
            <a:off x="4297680" y="2395727"/>
            <a:ext cx="502920" cy="502920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225856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改派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2642615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於主控台將選定的 SQL 主機（或 VM）指派至另一台，套用相同保護計畫</a:t>
            </a:r>
          </a:p>
        </p:txBody>
      </p:sp>
      <p:sp>
        <p:nvSpPr>
          <p:cNvPr id="42" name="Oval 41"/>
          <p:cNvSpPr/>
          <p:nvPr/>
        </p:nvSpPr>
        <p:spPr>
          <a:xfrm>
            <a:off x="4297680" y="3282696"/>
            <a:ext cx="502920" cy="502920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3145536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首次備份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3529584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目標設備執行首次完整備份，之後恢復增量</a:t>
            </a:r>
          </a:p>
        </p:txBody>
      </p:sp>
      <p:sp>
        <p:nvSpPr>
          <p:cNvPr id="45" name="Oval 44"/>
          <p:cNvSpPr/>
          <p:nvPr/>
        </p:nvSpPr>
        <p:spPr>
          <a:xfrm>
            <a:off x="4297680" y="4169664"/>
            <a:ext cx="502920" cy="502920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83480" y="4032504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舊版本釋放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83480" y="4416552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原設備舊版本依保留到期釋放（SQL 最長 92 天），期間兩台同時占用</a:t>
            </a:r>
          </a:p>
        </p:txBody>
      </p:sp>
      <p:sp>
        <p:nvSpPr>
          <p:cNvPr id="48" name="Oval 47"/>
          <p:cNvSpPr/>
          <p:nvPr/>
        </p:nvSpPr>
        <p:spPr>
          <a:xfrm>
            <a:off x="4297680" y="5056632"/>
            <a:ext cx="502920" cy="502920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80" y="491947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調整副本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80" y="530352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同步調整備份副本方向，維持跨設備還原能力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注意：改派以整台主機為單位（非單一 Database）；歷史版本不會自動搬移，需預留過渡期雙邊容量。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331720"/>
            <a:ext cx="1188720" cy="118872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286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授權與未來擴充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108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B8C7D3"/>
                </a:solidFill>
                <a:latin typeface="Microsoft JhengHei"/>
                <a:ea typeface="Microsoft JhengHei"/>
                <a:cs typeface="Microsoft JhengHei"/>
              </a:rPr>
              <a:t>免授權範圍・計價方式・授權型態・擴充概算・規則變更保障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授權確認事項逐項回覆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資料來源：Synology 官網 ActiveProtect Manager 技術規格、ActiveProtect Appliance 規格、ActiveProtect License Pack 說明（2026/10 查詢）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05840"/>
          <a:ext cx="11064240" cy="45354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"/>
                <a:gridCol w="3657600"/>
                <a:gridCol w="69494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確認事項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回覆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本次兩台 DP7400 是否無額外軟體授權費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確認無。</a:t>
                      </a:r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每個站台預設支援最多 3 台備份伺服器（含管理伺服器），本案 2 台在範圍內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APM 使用、功能更新及安全修補是否包含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包含。</a:t>
                      </a:r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APM 隨設備提供，版本更新與安全修補由原廠發布，無需另購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第四台設備起的授權計價方式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每增加 1 台備份伺服器，購買 1 份 ActiveProtect License Pack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永久買斷、年度訂閱或維護型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期限型（訂閱）授權，</a:t>
                      </a:r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到期須續約，無永久買斷選項；市場常見為 3 年期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依設備數、容量或工作負載計算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依設備（備份伺服器）台數，</a:t>
                      </a:r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不依容量、不依工作負載數量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擴充第四台以上設備的概算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授權約 €1,800／台／3 年（約 NT$6.5 萬），另加設備費用；以原廠報價為準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五年內授權規則變更的權益處理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已啟用授權於有效期內依原條款；建議合約載明「前 3 台免授權」於設備生命週期內有效，並取得原廠書面確認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正式書面說明：將由原廠台灣分公司／代理商出具「ActiveProtect 授權確認函」，載明上述 1–7 項，列入交付文件與合約附件。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授權擴充概算與管理注意事項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資料來源：Synology 官網 ActiveProtect Manager 技術規格、ActiveProtect Appliance 規格、ActiveProtect License Pack 說明（2026/10 查詢）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05840"/>
          <a:ext cx="548640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1097280"/>
                <a:gridCol w="292608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叢集台數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需購授權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年授權概算（2 期 × 3 年）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台（本案）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NT$ 0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6F3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 台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NT$ 0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E6F3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 台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份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≈ €3,600（約 NT$13 萬）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台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份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≈ €7,200（約 NT$26 萬）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862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以 €1 ≈ NT$36 換算，僅供預算編列參考；不含設備硬體費用。第 5 年跨入第 2 期時，可依實際使用年限協商比例計價。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5486400" cy="1691640"/>
          </a:xfrm>
          <a:prstGeom prst="roundRect">
            <a:avLst>
              <a:gd name="adj" fmla="val 7567"/>
            </a:avLst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817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</a:rPr>
              <a:t>五年 TCO 預算建議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50749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本案 2 台於五年規劃期內無軟體授權費；第 4 年若擴充第 3 台仍在免授權範圍。僅叢集擴充至第 4 台以上，才需編列授權預算。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005840"/>
            <a:ext cx="5303520" cy="1188720"/>
          </a:xfrm>
          <a:prstGeom prst="roundRect">
            <a:avLst>
              <a:gd name="adj" fmla="val 10769"/>
            </a:avLst>
          </a:prstGeom>
          <a:solidFill>
            <a:srgbClr val="F8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097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授權到期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44752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授權過期時，整個站台將無法建立新的備份與備份副本；到期前 90 天起原廠會寄發通知，應納入續約管理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04288"/>
            <a:ext cx="5303520" cy="1188720"/>
          </a:xfrm>
          <a:prstGeom prst="roundRect">
            <a:avLst>
              <a:gd name="adj" fmla="val 10769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3957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帳戶綁定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授權碼僅能於單一 Synology 帳戶啟用，不可轉移至其他帳戶、啟用後不可退回；建議使用公司共用帳戶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02736"/>
            <a:ext cx="5303520" cy="1188720"/>
          </a:xfrm>
          <a:prstGeom prst="roundRect">
            <a:avLst>
              <a:gd name="adj" fmla="val 10769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69417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連線驗證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41648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授權需網際網路連線驗證，離線逾 14 天將無法新增備份；防火牆須放行原廠授權服務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901183"/>
            <a:ext cx="5303520" cy="1188720"/>
          </a:xfrm>
          <a:prstGeom prst="roundRect">
            <a:avLst>
              <a:gd name="adj" fmla="val 10769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992623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設備故障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340096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保固期內更換管理伺服器時，授權會隨 Failover 自動轉移至新的管理伺服器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331720"/>
            <a:ext cx="1188720" cy="118872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2860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交付文件與驗收內容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108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B8C7D3"/>
                </a:solidFill>
                <a:latin typeface="Microsoft JhengHei"/>
                <a:ea typeface="Microsoft JhengHei"/>
                <a:cs typeface="Microsoft JhengHei"/>
              </a:rPr>
              <a:t>11 項交付文件・交付時點・驗收測試項目・保固及維護 SLA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交付文件清單（11 項全數提供）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Synology ActiveProtect DP7400 雙機分流備份架構規劃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960120"/>
          <a:ext cx="11064239" cy="51572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11480"/>
                <a:gridCol w="3749039"/>
                <a:gridCol w="4343400"/>
                <a:gridCol w="1828800"/>
                <a:gridCol w="731520"/>
              </a:tblGrid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交付文件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內容重點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交付時點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正式架構圖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實體、網路、邏輯架構；IP 與 VLAN 規劃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設計階段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VM／SQL 分流設計說明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工作負載配置、副本方向、故障改派流程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設計階段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五年容量計算書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假設、公式、年度用量、安全水位與擴充觸發點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設計（POC 後定版）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設備及軟體版本清單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序號、APM 版本、Agent 版本、相容性矩陣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建置完成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備份政策設定文件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保護計畫、排程、保留、不可變、副本設定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建置完成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VMware、Hyper-V、SQL、File／SMB 備份及還原 SOP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逐步操作畫面與檢核點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驗收前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SQL Database 還原 SOP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資料庫層級、整機、還原至其他主機、一致性檢查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驗收前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日常巡檢及異常處理 SOP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日／週／月檢核表、告警分級與處理流程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驗收前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權限及帳號管理文件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角色權限、SSO／MFA、帳號申請與停用流程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驗收前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教育訓練教材及紀錄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講義、操作演練、簽到與課後測驗紀錄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教育訓練後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保固及維護 SLA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年原廠硬體保固、叫修回應、定期巡檢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簽約時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✔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驗收測試項目與保固維護 SLA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Synology ActiveProtect DP7400 雙機分流備份架構規劃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5440680" cy="5257800"/>
          </a:xfrm>
          <a:prstGeom prst="roundRect">
            <a:avLst>
              <a:gd name="adj" fmla="val 2434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驗收測試項目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1500"/>
              </a:spcAft>
              <a:buClr>
                <a:srgbClr val="2E8B57"/>
              </a:buClr>
              <a:buFont typeface="Arial"/>
              <a:buChar char="✔"/>
            </a:pPr>
            <a:r>
              <a:rPr sz="15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各工作負載連續 7 天備份成功率 100%</a:t>
            </a:r>
          </a:p>
          <a:p>
            <a:pPr algn="l" marL="228600" indent="-228600">
              <a:spcAft>
                <a:spcPts val="1500"/>
              </a:spcAft>
              <a:buClr>
                <a:srgbClr val="2E8B57"/>
              </a:buClr>
              <a:buFont typeface="Arial"/>
              <a:buChar char="✔"/>
            </a:pPr>
            <a:r>
              <a:rPr sz="15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VM 即時還原與整機還原（Hyper-V、VMware）</a:t>
            </a:r>
          </a:p>
          <a:p>
            <a:pPr algn="l" marL="228600" indent="-228600">
              <a:spcAft>
                <a:spcPts val="1500"/>
              </a:spcAft>
              <a:buClr>
                <a:srgbClr val="2E8B57"/>
              </a:buClr>
              <a:buFont typeface="Arial"/>
              <a:buChar char="✔"/>
            </a:pPr>
            <a:r>
              <a:rPr sz="15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SQL 資料庫層級還原並執行 DBCC CHECKDB</a:t>
            </a:r>
          </a:p>
          <a:p>
            <a:pPr algn="l" marL="228600" indent="-228600">
              <a:spcAft>
                <a:spcPts val="1500"/>
              </a:spcAft>
              <a:buClr>
                <a:srgbClr val="2E8B57"/>
              </a:buClr>
              <a:buFont typeface="Arial"/>
              <a:buChar char="✔"/>
            </a:pPr>
            <a:r>
              <a:rPr sz="15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File／SMB 單檔與資料夾還原</a:t>
            </a:r>
          </a:p>
          <a:p>
            <a:pPr algn="l" marL="228600" indent="-228600">
              <a:spcAft>
                <a:spcPts val="1500"/>
              </a:spcAft>
              <a:buClr>
                <a:srgbClr val="2E8B57"/>
              </a:buClr>
              <a:buFont typeface="Arial"/>
              <a:buChar char="✔"/>
            </a:pPr>
            <a:r>
              <a:rPr sz="15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由備份副本執行跨設備還原</a:t>
            </a:r>
          </a:p>
          <a:p>
            <a:pPr algn="l" marL="228600" indent="-228600">
              <a:spcAft>
                <a:spcPts val="1500"/>
              </a:spcAft>
              <a:buClr>
                <a:srgbClr val="2E8B57"/>
              </a:buClr>
              <a:buFont typeface="Arial"/>
              <a:buChar char="✔"/>
            </a:pPr>
            <a:r>
              <a:rPr sz="15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次要管理伺服器 Failover 演練</a:t>
            </a:r>
          </a:p>
          <a:p>
            <a:pPr algn="l" marL="228600" indent="-228600">
              <a:spcAft>
                <a:spcPts val="1500"/>
              </a:spcAft>
              <a:buClr>
                <a:srgbClr val="2E8B57"/>
              </a:buClr>
              <a:buFont typeface="Arial"/>
              <a:buChar char="✔"/>
            </a:pPr>
            <a:r>
              <a:rPr sz="15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不可變保護驗證（刪除受保護版本應被拒絕）</a:t>
            </a:r>
          </a:p>
          <a:p>
            <a:pPr algn="l" marL="228600" indent="-228600">
              <a:spcAft>
                <a:spcPts val="1500"/>
              </a:spcAft>
              <a:buClr>
                <a:srgbClr val="2E8B57"/>
              </a:buClr>
              <a:buFont typeface="Arial"/>
              <a:buChar char="✔"/>
            </a:pPr>
            <a:r>
              <a:rPr sz="15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告警通知與稽核記錄檢查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005840"/>
          <a:ext cx="5440680" cy="39684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39776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建議內容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0F2A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硬體保固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原廠 5 年硬體保固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叫修回應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 小時內回應，次工作日到場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軟體支援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APM 版本更新與安全修補評估、協助升級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定期巡檢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每季 1 次健康檢查與容量報告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還原演練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每半年協助 1 次還原演練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硬碟備品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內建 1 顆 Hot Spare，故障硬碟保固更換</a:t>
                      </a:r>
                    </a:p>
                  </a:txBody>
                  <a:tcPr marL="73152" marR="73152" marT="27432" marB="27432" anchor="ctr">
                    <a:lnL w="9525" cmpd="sng">
                      <a:solidFill>
                        <a:srgbClr val="D5DDE3"/>
                      </a:solidFill>
                    </a:lnL>
                    <a:lnR w="9525" cmpd="sng">
                      <a:solidFill>
                        <a:srgbClr val="D5DDE3"/>
                      </a:solidFill>
                    </a:lnR>
                    <a:lnT w="9525" cmpd="sng">
                      <a:solidFill>
                        <a:srgbClr val="D5DDE3"/>
                      </a:solidFill>
                    </a:lnT>
                    <a:lnB w="9525" cmpd="sng">
                      <a:solidFill>
                        <a:srgbClr val="D5DDE3"/>
                      </a:solidFill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5166360"/>
            <a:ext cx="5440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SLA 數值為建議值，正式內容依維護合約訂定；容量報告將追蹤實際用量與本計算書差異，作為擴充決策依據。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待確認事項與下一步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以下資訊確認後，將更新容量計算書並定版架構設計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Synology ActiveProtect DP7400 雙機分流備份架構規劃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4754880"/>
          </a:xfrm>
          <a:prstGeom prst="roundRect">
            <a:avLst>
              <a:gd name="adj" fmla="val 2692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請客戶協助確認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0292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1600"/>
              </a:spcAft>
              <a:buClr>
                <a:srgbClr val="D9822B"/>
              </a:buClr>
              <a:buFont typeface="Arial"/>
              <a:buChar char="•"/>
            </a:pPr>
            <a:r>
              <a:rPr sz="15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VM 實際台數、已使用容量與 VMware／Hyper-V 版本</a:t>
            </a:r>
          </a:p>
          <a:p>
            <a:pPr algn="l" marL="228600" indent="-228600">
              <a:spcAft>
                <a:spcPts val="1600"/>
              </a:spcAft>
              <a:buClr>
                <a:srgbClr val="D9822B"/>
              </a:buClr>
              <a:buFont typeface="Arial"/>
              <a:buChar char="•"/>
            </a:pPr>
            <a:r>
              <a:rPr sz="15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SQL 版本與是否使用 Windows 故障轉移叢集</a:t>
            </a:r>
          </a:p>
          <a:p>
            <a:pPr algn="l" marL="228600" indent="-228600">
              <a:spcAft>
                <a:spcPts val="1600"/>
              </a:spcAft>
              <a:buClr>
                <a:srgbClr val="D9822B"/>
              </a:buClr>
              <a:buFont typeface="Arial"/>
              <a:buChar char="•"/>
            </a:pPr>
            <a:r>
              <a:rPr sz="15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SQL 是否需任意時間點還原（決定原生 Log 備份）</a:t>
            </a:r>
          </a:p>
          <a:p>
            <a:pPr algn="l" marL="228600" indent="-228600">
              <a:spcAft>
                <a:spcPts val="1600"/>
              </a:spcAft>
              <a:buClr>
                <a:srgbClr val="D9822B"/>
              </a:buClr>
              <a:buFont typeface="Arial"/>
              <a:buChar char="•"/>
            </a:pPr>
            <a:r>
              <a:rPr sz="15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File／SMB 範圍、資料量與保留天數</a:t>
            </a:r>
          </a:p>
          <a:p>
            <a:pPr algn="l" marL="228600" indent="-228600">
              <a:spcAft>
                <a:spcPts val="1600"/>
              </a:spcAft>
              <a:buClr>
                <a:srgbClr val="D9822B"/>
              </a:buClr>
              <a:buFont typeface="Arial"/>
              <a:buChar char="•"/>
            </a:pPr>
            <a:r>
              <a:rPr sz="15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備份網路：10GbE 介接埠與備份 VLAN</a:t>
            </a:r>
          </a:p>
          <a:p>
            <a:pPr algn="l" marL="228600" indent="-228600">
              <a:spcAft>
                <a:spcPts val="1600"/>
              </a:spcAft>
              <a:buClr>
                <a:srgbClr val="D9822B"/>
              </a:buClr>
              <a:buFont typeface="Arial"/>
              <a:buChar char="•"/>
            </a:pPr>
            <a:r>
              <a:rPr sz="1500" b="0" i="0">
                <a:solidFill>
                  <a:srgbClr val="1F2D3A"/>
                </a:solidFill>
                <a:latin typeface="Microsoft JhengHei"/>
                <a:ea typeface="Microsoft JhengHei"/>
                <a:cs typeface="Microsoft JhengHei"/>
              </a:rPr>
              <a:t>異地副本需求（雲端或第二站點）</a:t>
            </a:r>
          </a:p>
        </p:txBody>
      </p:sp>
      <p:sp>
        <p:nvSpPr>
          <p:cNvPr id="9" name="Oval 8"/>
          <p:cNvSpPr/>
          <p:nvPr/>
        </p:nvSpPr>
        <p:spPr>
          <a:xfrm>
            <a:off x="6355080" y="1600200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29400" y="2167128"/>
            <a:ext cx="0" cy="365760"/>
          </a:xfrm>
          <a:prstGeom prst="line">
            <a:avLst/>
          </a:prstGeom>
          <a:ln w="19050">
            <a:solidFill>
              <a:srgbClr val="D5DDE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20" y="15270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POC 實測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11095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以代表性 VM 與 SQL 主機實測縮減率與備份時間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2551176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29400" y="3118104"/>
            <a:ext cx="0" cy="365760"/>
          </a:xfrm>
          <a:prstGeom prst="line">
            <a:avLst/>
          </a:prstGeom>
          <a:ln w="19050">
            <a:solidFill>
              <a:srgbClr val="D5DDE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0" y="247802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計算書定版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862072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以實測值更新五年容量與擴充觸發點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3502152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4069080"/>
            <a:ext cx="0" cy="365760"/>
          </a:xfrm>
          <a:prstGeom prst="line">
            <a:avLst/>
          </a:prstGeom>
          <a:ln w="19050">
            <a:solidFill>
              <a:srgbClr val="D5DDE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2320" y="34290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請購作業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813048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設備、授權確認函與維護合約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4453127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29400" y="5020055"/>
            <a:ext cx="0" cy="365761"/>
          </a:xfrm>
          <a:prstGeom prst="line">
            <a:avLst/>
          </a:prstGeom>
          <a:ln w="19050">
            <a:solidFill>
              <a:srgbClr val="D5DDE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20" y="4379975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建置上線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764024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叢集建置、政策設定、副本設定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5404104"/>
            <a:ext cx="548640" cy="54864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33095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A3D"/>
                </a:solidFill>
                <a:latin typeface="Microsoft JhengHei"/>
                <a:ea typeface="Microsoft JhengHei"/>
                <a:cs typeface="Microsoft JhengHei"/>
              </a:rPr>
              <a:t>驗收結案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71500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B6B78"/>
                </a:solidFill>
                <a:latin typeface="Microsoft JhengHei"/>
                <a:ea typeface="Microsoft JhengHei"/>
                <a:cs typeface="Microsoft JhengHei"/>
              </a:rPr>
              <a:t>還原演練、文件交付與教育訓練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