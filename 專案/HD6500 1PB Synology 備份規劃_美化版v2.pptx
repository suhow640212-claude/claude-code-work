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EA5B7"/>
                </a:solidFill>
                <a:latin typeface="微軟正黑體"/>
                <a:ea typeface="微軟正黑體"/>
                <a:cs typeface="微軟正黑體"/>
              </a:rPr>
              <a:t>Synology 儲存規劃說明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6400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HD6500 1PB</a:t>
            </a:r>
          </a:p>
          <a:p>
            <a:pPr algn="l"/>
            <a:r>
              <a:rPr sz="4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備份儲存規劃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5196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9D8F2"/>
                </a:solidFill>
                <a:latin typeface="微軟正黑體"/>
                <a:ea typeface="微軟正黑體"/>
                <a:cs typeface="微軟正黑體"/>
              </a:rPr>
              <a:t>硬體配置 · 儲存空間配置 · Volume 規劃建議</a:t>
            </a:r>
          </a:p>
        </p:txBody>
      </p:sp>
      <p:pic>
        <p:nvPicPr>
          <p:cNvPr id="5" name="Picture 4" descr="hd6500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48840"/>
            <a:ext cx="4846320" cy="18490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41605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C9D8F2"/>
                </a:solidFill>
                <a:latin typeface="微軟正黑體"/>
                <a:ea typeface="微軟正黑體"/>
                <a:cs typeface="微軟正黑體"/>
              </a:rPr>
              <a:t>Synology HD6500 · 4U 60-bay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565E0"/>
                </a:solidFill>
                <a:latin typeface="微軟正黑體"/>
                <a:ea typeface="微軟正黑體"/>
                <a:cs typeface="微軟正黑體"/>
              </a:rPr>
              <a:t>01  硬體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HD6500 硬體配置圖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783080"/>
            <a:ext cx="10607040" cy="351523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514600" y="1371600"/>
            <a:ext cx="2514600" cy="566928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480GB SSD ×2</a:t>
            </a:r>
          </a:p>
          <a:p>
            <a:pPr algn="ctr"/>
            <a:r>
              <a:rPr sz="1100" b="0">
                <a:solidFill>
                  <a:srgbClr val="C9D8F2"/>
                </a:solidFill>
                <a:latin typeface="微軟正黑體"/>
                <a:ea typeface="微軟正黑體"/>
                <a:cs typeface="微軟正黑體"/>
              </a:rPr>
              <a:t>DSM 系統碟 · RAID 1 保護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0" y="1655064"/>
            <a:ext cx="401604" cy="831062"/>
          </a:xfrm>
          <a:prstGeom prst="line">
            <a:avLst/>
          </a:prstGeom>
          <a:ln w="28575">
            <a:solidFill>
              <a:srgbClr val="E883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5532120"/>
            <a:ext cx="11091672" cy="594360"/>
          </a:xfrm>
          <a:prstGeom prst="roundRect">
            <a:avLst>
              <a:gd name="adj" fmla="val 15384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/>
            <a:r>
              <a:rPr sz="14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系統碟與資料碟分離：</a:t>
            </a:r>
            <a:r>
              <a:rPr sz="1400" b="0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DSM 安裝於 2 顆 480GB SSD（RAID 1），60 個硬碟槽全數作為資料儲存空間。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Synology HD6500 · 1PB 備份儲存規劃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565E0"/>
                </a:solidFill>
                <a:latin typeface="微軟正黑體"/>
                <a:ea typeface="微軟正黑體"/>
                <a:cs typeface="微軟正黑體"/>
              </a:rPr>
              <a:t>02  儲存空間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主機儲存空間配置 – HD6500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7726679" cy="1051560"/>
          </a:xfrm>
          <a:prstGeom prst="roundRect">
            <a:avLst>
              <a:gd name="adj" fmla="val 12173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737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RAID 6</a:t>
            </a:r>
          </a:p>
          <a:p>
            <a:pPr algn="l"/>
            <a:r>
              <a:rPr sz="20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陣列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783080"/>
            <a:ext cx="2514600" cy="59436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20TB NL-SAS HDD </a:t>
            </a:r>
            <a:r>
              <a:rPr sz="1400" b="1">
                <a:solidFill>
                  <a:srgbClr val="1565E0"/>
                </a:solidFill>
                <a:latin typeface="微軟正黑體"/>
                <a:ea typeface="微軟正黑體"/>
                <a:cs typeface="微軟正黑體"/>
              </a:rPr>
              <a:t>×20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349240" y="1938528"/>
            <a:ext cx="594360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719072"/>
            <a:ext cx="1874519" cy="731520"/>
          </a:xfrm>
          <a:prstGeom prst="roundRect">
            <a:avLst>
              <a:gd name="adj" fmla="val 12500"/>
            </a:avLst>
          </a:prstGeom>
          <a:solidFill>
            <a:srgbClr val="156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C9D8F2"/>
                </a:solidFill>
                <a:latin typeface="微軟正黑體"/>
                <a:ea typeface="微軟正黑體"/>
                <a:cs typeface="微軟正黑體"/>
              </a:rPr>
              <a:t>可用容量約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327TB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52928"/>
            <a:ext cx="7726679" cy="1051560"/>
          </a:xfrm>
          <a:prstGeom prst="roundRect">
            <a:avLst>
              <a:gd name="adj" fmla="val 12173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52928"/>
            <a:ext cx="1737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RAID 6</a:t>
            </a:r>
          </a:p>
          <a:p>
            <a:pPr algn="l"/>
            <a:r>
              <a:rPr sz="20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陣列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3081528"/>
            <a:ext cx="2514600" cy="59436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20TB NL-SAS HDD </a:t>
            </a:r>
            <a:r>
              <a:rPr sz="1400" b="1">
                <a:solidFill>
                  <a:srgbClr val="1565E0"/>
                </a:solidFill>
                <a:latin typeface="微軟正黑體"/>
                <a:ea typeface="微軟正黑體"/>
                <a:cs typeface="微軟正黑體"/>
              </a:rPr>
              <a:t>×20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349240" y="3236976"/>
            <a:ext cx="594360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3017520"/>
            <a:ext cx="1874519" cy="731520"/>
          </a:xfrm>
          <a:prstGeom prst="roundRect">
            <a:avLst>
              <a:gd name="adj" fmla="val 12500"/>
            </a:avLst>
          </a:prstGeom>
          <a:solidFill>
            <a:srgbClr val="156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C9D8F2"/>
                </a:solidFill>
                <a:latin typeface="微軟正黑體"/>
                <a:ea typeface="微軟正黑體"/>
                <a:cs typeface="微軟正黑體"/>
              </a:rPr>
              <a:t>可用容量約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327TB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51376"/>
            <a:ext cx="7726679" cy="1051560"/>
          </a:xfrm>
          <a:prstGeom prst="roundRect">
            <a:avLst>
              <a:gd name="adj" fmla="val 12173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51376"/>
            <a:ext cx="1737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RAID 6</a:t>
            </a:r>
          </a:p>
          <a:p>
            <a:pPr algn="l"/>
            <a:r>
              <a:rPr sz="20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陣列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4379976"/>
            <a:ext cx="2514600" cy="59436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20TB NL-SAS HDD </a:t>
            </a:r>
            <a:r>
              <a:rPr sz="1400" b="1">
                <a:solidFill>
                  <a:srgbClr val="1565E0"/>
                </a:solidFill>
                <a:latin typeface="微軟正黑體"/>
                <a:ea typeface="微軟正黑體"/>
                <a:cs typeface="微軟正黑體"/>
              </a:rPr>
              <a:t>×20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349240" y="4535424"/>
            <a:ext cx="594360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4315968"/>
            <a:ext cx="1874519" cy="731520"/>
          </a:xfrm>
          <a:prstGeom prst="roundRect">
            <a:avLst>
              <a:gd name="adj" fmla="val 12500"/>
            </a:avLst>
          </a:prstGeom>
          <a:solidFill>
            <a:srgbClr val="156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C9D8F2"/>
                </a:solidFill>
                <a:latin typeface="微軟正黑體"/>
                <a:ea typeface="微軟正黑體"/>
                <a:cs typeface="微軟正黑體"/>
              </a:rPr>
              <a:t>可用容量約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327TB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1554480"/>
            <a:ext cx="3090672" cy="3648456"/>
          </a:xfrm>
          <a:prstGeom prst="roundRect">
            <a:avLst>
              <a:gd name="adj" fmla="val 4733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78308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D8F2"/>
                </a:solidFill>
                <a:latin typeface="微軟正黑體"/>
                <a:ea typeface="微軟正黑體"/>
                <a:cs typeface="微軟正黑體"/>
              </a:rPr>
              <a:t>總可用容量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1031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981</a:t>
            </a: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TB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20040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A5B7"/>
                </a:solidFill>
                <a:latin typeface="微軟正黑體"/>
                <a:ea typeface="微軟正黑體"/>
                <a:cs typeface="微軟正黑體"/>
              </a:rPr>
              <a:t>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20040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顆 20TB NL-SAS HDD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822191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A5B7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3822191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個 RAID 6 陣列，各 20 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443984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0EA5B7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4443984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顆：每個陣列可容許的
硬碟故障數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每個 RAID 6 陣列：(20 − 2) × 20TB = 360TB，DSM 顯示約 327TB。3 個陣列可依下頁兩種方式配置為儲存集區與 Volume。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Synology HD6500 · 1PB 備份儲存規劃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565E0"/>
                </a:solidFill>
                <a:latin typeface="微軟正黑體"/>
                <a:ea typeface="微軟正黑體"/>
                <a:cs typeface="微軟正黑體"/>
              </a:rPr>
              <a:t>03  Volume 規劃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儲存集區與 Volume 配置方式比較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39496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394960" cy="1325880"/>
          </a:xfrm>
          <a:prstGeom prst="roundRect">
            <a:avLst>
              <a:gd name="adj" fmla="val 11034"/>
            </a:avLst>
          </a:prstGeom>
          <a:solidFill>
            <a:srgbClr val="156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514600"/>
            <a:ext cx="5394960" cy="320040"/>
          </a:xfrm>
          <a:prstGeom prst="rect">
            <a:avLst/>
          </a:prstGeom>
          <a:solidFill>
            <a:srgbClr val="156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39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3ECFA"/>
                </a:solidFill>
                <a:latin typeface="微軟正黑體"/>
                <a:ea typeface="微軟正黑體"/>
                <a:cs typeface="微軟正黑體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 個獨立儲存集區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86584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3ECFA"/>
                </a:solidFill>
                <a:latin typeface="微軟正黑體"/>
                <a:ea typeface="微軟正黑體"/>
                <a:cs typeface="微軟正黑體"/>
              </a:rPr>
              <a:t>每個儲存集區 1 個 RAID 6 陣列 → Volume 1 / 2 / 3，各 327TB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099816"/>
            <a:ext cx="384048" cy="38404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081528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故障影響範圍隔離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42900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陣列 rebuild 時不影響其他 Volume；例如修復陣列 1，只影響 Volume 1。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59935"/>
            <a:ext cx="384048" cy="38404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041648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IO 依 Volume 分配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38912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資料寫入該 Volume 所在陣列的硬碟，IO 分配明確。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020056"/>
            <a:ext cx="384048" cy="384048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5001768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單一 Volume 上限 327TB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534924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資料需依 Volume 分散存放，各 Volume 的剩餘空間無法互相使用。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1508760"/>
            <a:ext cx="539496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45352" y="1508760"/>
            <a:ext cx="5394960" cy="1325880"/>
          </a:xfrm>
          <a:prstGeom prst="roundRect">
            <a:avLst>
              <a:gd name="adj" fmla="val 11034"/>
            </a:avLst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5352" y="2514600"/>
            <a:ext cx="5394960" cy="32004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1691639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3ECFA"/>
                </a:solidFill>
                <a:latin typeface="微軟正黑體"/>
                <a:ea typeface="微軟正黑體"/>
                <a:cs typeface="微軟正黑體"/>
              </a:rPr>
              <a:t>方案二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194767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 個 RAID Group 儲存集區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386584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3ECFA"/>
                </a:solidFill>
                <a:latin typeface="微軟正黑體"/>
                <a:ea typeface="微軟正黑體"/>
                <a:cs typeface="微軟正黑體"/>
              </a:rPr>
              <a:t>3 個 RAID 6 陣列以 LVM 合併 → 單一 Btrfs Volume A 981TB</a:t>
            </a:r>
          </a:p>
        </p:txBody>
      </p:sp>
      <p:sp>
        <p:nvSpPr>
          <p:cNvPr id="25" name="Oval 24"/>
          <p:cNvSpPr/>
          <p:nvPr/>
        </p:nvSpPr>
        <p:spPr>
          <a:xfrm>
            <a:off x="6565392" y="3099816"/>
            <a:ext cx="384048" cy="38404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081528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單一大容量空間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342900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981TB 單一 Volume，不需分散管理多個 Volume。</a:t>
            </a:r>
          </a:p>
        </p:txBody>
      </p:sp>
      <p:sp>
        <p:nvSpPr>
          <p:cNvPr id="28" name="Oval 27"/>
          <p:cNvSpPr/>
          <p:nvPr/>
        </p:nvSpPr>
        <p:spPr>
          <a:xfrm>
            <a:off x="6565392" y="4059935"/>
            <a:ext cx="384048" cy="38404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041648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容錯數隨陣列數增加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438912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每個陣列各可容許 2 顆硬碟故障；同一陣列 3 顆故障才會損毀。</a:t>
            </a:r>
          </a:p>
        </p:txBody>
      </p:sp>
      <p:sp>
        <p:nvSpPr>
          <p:cNvPr id="31" name="Oval 30"/>
          <p:cNvSpPr/>
          <p:nvPr/>
        </p:nvSpPr>
        <p:spPr>
          <a:xfrm>
            <a:off x="6565392" y="5020056"/>
            <a:ext cx="384048" cy="384048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5001768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資料寫入分佈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2" y="534924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資料量在 327TB 以下時，陣列 2 / 3 的 HDD 不會有 IO。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Synology HD6500 · 1PB 備份儲存規劃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565E0"/>
                </a:solidFill>
                <a:latin typeface="微軟正黑體"/>
                <a:ea typeface="微軟正黑體"/>
                <a:cs typeface="微軟正黑體"/>
              </a:rPr>
              <a:t>04  1PB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建立 1PB 單一 Volume 的需求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15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HD6500 為 Synology 列出的適用機種，</a:t>
            </a:r>
            <a:r>
              <a:rPr sz="1500" b="0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符合下列條件時，可建立超過 200TB、最大達 1PB 的儲存空間。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14600"/>
            <a:ext cx="2567178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2743200"/>
            <a:ext cx="457200" cy="457200"/>
          </a:xfrm>
          <a:prstGeom prst="ellipse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383280"/>
            <a:ext cx="20185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系統記憶體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703320"/>
            <a:ext cx="20185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64GB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251960"/>
            <a:ext cx="201853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最低需求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138" y="2514600"/>
            <a:ext cx="2567178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64458" y="2743200"/>
            <a:ext cx="457200" cy="457200"/>
          </a:xfrm>
          <a:prstGeom prst="ellipse">
            <a:avLst/>
          </a:prstGeom>
          <a:solidFill>
            <a:srgbClr val="156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4458" y="3383280"/>
            <a:ext cx="20185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RAID 類型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4458" y="3703320"/>
            <a:ext cx="20185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RAID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4458" y="4251960"/>
            <a:ext cx="201853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或 RAID TP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2514600"/>
            <a:ext cx="2567178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05955" y="2743200"/>
            <a:ext cx="457200" cy="45720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5955" y="3383280"/>
            <a:ext cx="20185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檔案系統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955" y="3703320"/>
            <a:ext cx="20185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Btrfs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5955" y="4251960"/>
            <a:ext cx="201853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DSM 7.0.1–7.1 需選 Btrfs (Peta Volume)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3134" y="2514600"/>
            <a:ext cx="2567178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47454" y="2743200"/>
            <a:ext cx="457200" cy="45720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7454" y="3383280"/>
            <a:ext cx="20185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作業系統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7454" y="3703320"/>
            <a:ext cx="20185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DSM 7.2+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7454" y="4251960"/>
            <a:ext cx="201853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建議版本；DSM 7.0.1 起支援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2064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1400" b="1">
                <a:solidFill>
                  <a:srgbClr val="0EA5B7"/>
                </a:solidFill>
                <a:latin typeface="微軟正黑體"/>
                <a:ea typeface="微軟正黑體"/>
                <a:cs typeface="微軟正黑體"/>
              </a:rPr>
              <a:t>本案方案二：</a:t>
            </a: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 個 RAID 6 陣列 + Btrfs，單一 Volume 981TB，需確認主機記憶體 ≥ 64GB 並使用 DSM 7.2 以上。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資料來源：Synology 知識中心〈建立 1 PB 儲存空間的需求為何？〉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Synology HD6500 · 1PB 備份儲存規劃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565E0"/>
                </a:solidFill>
                <a:latin typeface="微軟正黑體"/>
                <a:ea typeface="微軟正黑體"/>
                <a:cs typeface="微軟正黑體"/>
              </a:rPr>
              <a:t>05  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Synology 儲存空間架構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7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627632"/>
            <a:ext cx="402336" cy="402336"/>
          </a:xfrm>
          <a:prstGeom prst="ellipse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0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共用資料夾 / LUN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591056"/>
            <a:ext cx="2103120" cy="475488"/>
          </a:xfrm>
          <a:prstGeom prst="roundRect">
            <a:avLst>
              <a:gd name="adj" fmla="val 1923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Shared Folder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591056"/>
            <a:ext cx="2103120" cy="475488"/>
          </a:xfrm>
          <a:prstGeom prst="roundRect">
            <a:avLst>
              <a:gd name="adj" fmla="val 1923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File Level LUN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11091672" cy="731520"/>
          </a:xfrm>
          <a:prstGeom prst="roundRect">
            <a:avLst>
              <a:gd name="adj" fmla="val 17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496312"/>
            <a:ext cx="402336" cy="402336"/>
          </a:xfrm>
          <a:prstGeom prst="ellipse">
            <a:avLst/>
          </a:prstGeom>
          <a:solidFill>
            <a:srgbClr val="156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31720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Volume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459736"/>
            <a:ext cx="4434840" cy="475488"/>
          </a:xfrm>
          <a:prstGeom prst="roundRect">
            <a:avLst>
              <a:gd name="adj" fmla="val 19230"/>
            </a:avLst>
          </a:prstGeom>
          <a:solidFill>
            <a:srgbClr val="156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Btrfs Volume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59" y="2459736"/>
            <a:ext cx="2103120" cy="475488"/>
          </a:xfrm>
          <a:prstGeom prst="roundRect">
            <a:avLst>
              <a:gd name="adj" fmla="val 19230"/>
            </a:avLst>
          </a:prstGeom>
          <a:solidFill>
            <a:srgbClr val="156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Block Level LUN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0400"/>
            <a:ext cx="11091672" cy="1234440"/>
          </a:xfrm>
          <a:prstGeom prst="roundRect">
            <a:avLst>
              <a:gd name="adj" fmla="val 1037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3616452"/>
            <a:ext cx="402336" cy="402336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200400"/>
            <a:ext cx="19202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儲存集區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3291840"/>
            <a:ext cx="7653527" cy="1051560"/>
          </a:xfrm>
          <a:prstGeom prst="roundRect">
            <a:avLst>
              <a:gd name="adj" fmla="val 10434"/>
            </a:avLst>
          </a:prstGeom>
          <a:solidFill>
            <a:srgbClr val="D7F1F5"/>
          </a:solidFill>
          <a:ln w="12700">
            <a:solidFill>
              <a:srgbClr val="0EA5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33375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6B78"/>
                </a:solidFill>
                <a:latin typeface="微軟正黑體"/>
                <a:ea typeface="微軟正黑體"/>
                <a:cs typeface="微軟正黑體"/>
              </a:rPr>
              <a:t>RAID Group：多個 RAID 陣列以 LVM 合併為單一儲存集區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3675888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RAID 陣列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19472" y="3675888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RAID 陣列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9944" y="3675888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RAID 陣列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0416" y="3675888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RAID 陣列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90888" y="3675888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RAID 陣列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72000"/>
            <a:ext cx="11091672" cy="731520"/>
          </a:xfrm>
          <a:prstGeom prst="roundRect">
            <a:avLst>
              <a:gd name="adj" fmla="val 17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4736592"/>
            <a:ext cx="402336" cy="402336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572000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E3F"/>
                </a:solidFill>
                <a:latin typeface="微軟正黑體"/>
                <a:ea typeface="微軟正黑體"/>
                <a:cs typeface="微軟正黑體"/>
              </a:rPr>
              <a:t>硬碟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4700016"/>
            <a:ext cx="2103120" cy="475488"/>
          </a:xfrm>
          <a:prstGeom prst="roundRect">
            <a:avLst>
              <a:gd name="adj" fmla="val 1923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SSD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4700016"/>
            <a:ext cx="2103120" cy="475488"/>
          </a:xfrm>
          <a:prstGeom prst="roundRect">
            <a:avLst>
              <a:gd name="adj" fmla="val 1923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SATA HDD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09559" y="4700016"/>
            <a:ext cx="2103120" cy="475488"/>
          </a:xfrm>
          <a:prstGeom prst="roundRect">
            <a:avLst>
              <a:gd name="adj" fmla="val 1923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SAS HDD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RAID 5 / RAID 6 單一陣列硬碟上限可設為 6、12、16、20、24 顆，建立儲存空間時設定，之後無法修改；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新增 RAID 陣列前，既有陣列須已達硬碟上限，否則新硬碟會加入既有陣列。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Synology HD6500 · 1PB 備份儲存規劃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0"/>
            <a:ext cx="110916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謝謝聆聽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1188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EA5B7"/>
                </a:solidFill>
                <a:latin typeface="微軟正黑體"/>
                <a:ea typeface="微軟正黑體"/>
                <a:cs typeface="微軟正黑體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